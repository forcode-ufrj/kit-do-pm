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usar: Toda a equipe identifica; a gerência consolida; cada risco tem um responsável. Revise em toda reunião de status.</a:t>
            </a:r>
          </a:p>
          <a:p>
            <a:r>
              <a:t>Manual de preenchimento: manual 21_registro_de_riscos.pdf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posicionar os riscos, duplique a etiqueta (Ctrl+D), escreva o ID (RI-01…) e arraste para a célula de P ×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30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3000" b="0" i="0" u="none">
                <a:solidFill>
                  <a:srgbClr val="FFFFFF"/>
                </a:solidFill>
                <a:latin typeface="Lexend"/>
              </a:rPr>
              <a:t>Registro de Riscos</a:t>
            </a:r>
            <a:r>
              <a:rPr sz="30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70000"/>
            <a:ext cx="1127760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500" b="0" i="0" u="none">
                <a:solidFill>
                  <a:srgbClr val="614AD3"/>
                </a:solidFill>
                <a:latin typeface="Lexend"/>
              </a:rPr>
              <a:t>Cada risco, sua prioridade e a resposta planejada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84325"/>
            <a:ext cx="1066800" cy="190500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800" b="0" i="0" u="none">
                <a:solidFill>
                  <a:srgbClr val="1E1647"/>
                </a:solidFill>
                <a:latin typeface="Lexend SemiBold"/>
              </a:rPr>
              <a:t>ESSENCIAL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1584325"/>
            <a:ext cx="100838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0" i="0" u="none">
                <a:solidFill>
                  <a:srgbClr val="614AD3"/>
                </a:solidFill>
                <a:latin typeface="Lexend SemiBold"/>
              </a:rPr>
              <a:t>Modelo 21 · Planejamento · PMBOK: 11.2 Identificar os Riscos (a 11.7)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89125"/>
            <a:ext cx="31750" cy="369887"/>
          </a:xfrm>
          <a:prstGeom prst="rect">
            <a:avLst/>
          </a:prstGeom>
          <a:solidFill>
            <a:srgbClr val="614A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" y="1889125"/>
            <a:ext cx="11150600" cy="3698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Lexend"/>
              </a:rPr>
              <a:t>Toda a equipe identifica; a gerência consolida; cada risco tem um responsável. Revise em toda reunião de status.</a:t>
            </a:r>
          </a:p>
          <a:p>
            <a:pPr algn="l"/>
            <a:r>
              <a:rPr sz="1050" b="0" i="0" u="none">
                <a:solidFill>
                  <a:srgbClr val="614AD3"/>
                </a:solidFill>
                <a:latin typeface="Lexend SemiBold"/>
              </a:rPr>
              <a:t>Manual de preenchimento:</a:t>
            </a:r>
            <a:r>
              <a:rPr sz="1050" b="0" i="0" u="none">
                <a:solidFill>
                  <a:srgbClr val="FFFFFF"/>
                </a:solidFill>
                <a:latin typeface="Lexend"/>
              </a:rPr>
              <a:t> manual 21_registro_de_riscos.pdf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11412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🪪  Identificação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868612"/>
          <a:ext cx="11277600" cy="1219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000"/>
                <a:gridCol w="3733800"/>
                <a:gridCol w="1905000"/>
                <a:gridCol w="3733800"/>
              </a:tblGrid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Código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Formato F.PJ-nn (ex.: F.PJ-01)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Nome do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Gerente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A pessoa que lidera 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 do documento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Ex.: 1.0 (a 1ª aprovada)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DD/MM/AAAA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240212"/>
            <a:ext cx="11277600" cy="1168400"/>
          </a:xfrm>
          <a:prstGeom prst="rect">
            <a:avLst/>
          </a:prstGeom>
          <a:noFill/>
          <a:ln w="9525">
            <a:solidFill>
              <a:srgbClr val="614A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4316412"/>
            <a:ext cx="11074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614AD3"/>
                </a:solidFill>
                <a:latin typeface="Lexend SemiBold"/>
              </a:rPr>
              <a:t>Cadeia do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45012"/>
            <a:ext cx="101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Vem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4800" y="4545012"/>
            <a:ext cx="10058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"/>
              </a:rPr>
              <a:t>03 Project Model Canvas · 04 Termo de Abertura do Projeto · 05 Registro de Premissas e Restrições · 06 Registro das Partes Interessadas · 10 Declaração do Escopo · 11 Estrutura Analítica do Projeto · 17 Estimativa das Atividades · 19 Cronograma do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4938712"/>
            <a:ext cx="101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Alimenta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4800" y="4938712"/>
            <a:ext cx="10058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"/>
              </a:rPr>
              <a:t>22 Planilha de Custos do Projeto · 25 Plano de Gerenciamento do Projeto · 27 Registro de Questões · 28 Registro de Lições Aprendidas · 31 Relatório de Status do Projeto · 34 Termo de Encerramento do Projeto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1 de 6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🎲  Escalas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598" cy="1498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05542"/>
                <a:gridCol w="3222171"/>
                <a:gridCol w="3222171"/>
                <a:gridCol w="4027714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Nota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Probabilidade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Impacto no prazo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Impacto no custo ou escopo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Muito baixa (até 10%)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Atraso de até 1 dia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Insignificante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Baixa (10–30%)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Até 1 semana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Pequeno, absorvível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Média (30–50%)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1 a 2 semanas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Afeta uma entrega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Alta (50–70%)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Mais de 2 semanas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Afeta várias entregas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Muito alta (&gt; 70%)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Compromete a data final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Compromete o objetivo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2 de 6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🎲  Escalas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2200" y="4368800"/>
            <a:ext cx="787400" cy="7874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9600" y="4368800"/>
            <a:ext cx="787400" cy="7874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7000" y="4368800"/>
            <a:ext cx="787400" cy="7874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4400" y="4368800"/>
            <a:ext cx="787400" cy="7874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241800" y="4368800"/>
            <a:ext cx="787400" cy="787400"/>
          </a:xfrm>
          <a:prstGeom prst="rect">
            <a:avLst/>
          </a:prstGeom>
          <a:solidFill>
            <a:srgbClr val="614AD3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Lexend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2200" y="3581400"/>
            <a:ext cx="787400" cy="7874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9600" y="3581400"/>
            <a:ext cx="787400" cy="7874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7000" y="3581400"/>
            <a:ext cx="787400" cy="787400"/>
          </a:xfrm>
          <a:prstGeom prst="rect">
            <a:avLst/>
          </a:prstGeom>
          <a:solidFill>
            <a:srgbClr val="614AD3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4400" y="3581400"/>
            <a:ext cx="787400" cy="787400"/>
          </a:xfrm>
          <a:prstGeom prst="rect">
            <a:avLst/>
          </a:prstGeom>
          <a:solidFill>
            <a:srgbClr val="614AD3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1800" y="3581400"/>
            <a:ext cx="787400" cy="787400"/>
          </a:xfrm>
          <a:prstGeom prst="rect">
            <a:avLst/>
          </a:prstGeom>
          <a:solidFill>
            <a:srgbClr val="614AD3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8735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Lexend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2200" y="2794000"/>
            <a:ext cx="787400" cy="7874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9600" y="2794000"/>
            <a:ext cx="787400" cy="787400"/>
          </a:xfrm>
          <a:prstGeom prst="rect">
            <a:avLst/>
          </a:prstGeom>
          <a:solidFill>
            <a:srgbClr val="614AD3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7000" y="2794000"/>
            <a:ext cx="787400" cy="787400"/>
          </a:xfrm>
          <a:prstGeom prst="rect">
            <a:avLst/>
          </a:prstGeom>
          <a:solidFill>
            <a:srgbClr val="614AD3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4400" y="2794000"/>
            <a:ext cx="787400" cy="787400"/>
          </a:xfrm>
          <a:prstGeom prst="rect">
            <a:avLst/>
          </a:prstGeom>
          <a:solidFill>
            <a:srgbClr val="614AD3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41800" y="2794000"/>
            <a:ext cx="787400" cy="787400"/>
          </a:xfrm>
          <a:prstGeom prst="rect">
            <a:avLst/>
          </a:prstGeom>
          <a:solidFill>
            <a:srgbClr val="FFFF00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1E1647"/>
                </a:solidFill>
                <a:latin typeface="Lexend SemiBold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0861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Lexend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2200" y="2006600"/>
            <a:ext cx="787400" cy="7874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9600" y="2006600"/>
            <a:ext cx="787400" cy="787400"/>
          </a:xfrm>
          <a:prstGeom prst="rect">
            <a:avLst/>
          </a:prstGeom>
          <a:solidFill>
            <a:srgbClr val="614AD3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7000" y="2006600"/>
            <a:ext cx="787400" cy="787400"/>
          </a:xfrm>
          <a:prstGeom prst="rect">
            <a:avLst/>
          </a:prstGeom>
          <a:solidFill>
            <a:srgbClr val="614AD3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54400" y="2006600"/>
            <a:ext cx="787400" cy="787400"/>
          </a:xfrm>
          <a:prstGeom prst="rect">
            <a:avLst/>
          </a:prstGeom>
          <a:solidFill>
            <a:srgbClr val="FFFF00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1E1647"/>
                </a:solidFill>
                <a:latin typeface="Lexend SemiBold"/>
              </a:rPr>
              <a:t>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1800" y="2006600"/>
            <a:ext cx="787400" cy="787400"/>
          </a:xfrm>
          <a:prstGeom prst="rect">
            <a:avLst/>
          </a:prstGeom>
          <a:solidFill>
            <a:srgbClr val="FFFF00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1E1647"/>
                </a:solidFill>
                <a:latin typeface="Lexend SemiBold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2987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Lexend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2200" y="1219200"/>
            <a:ext cx="787400" cy="787400"/>
          </a:xfrm>
          <a:prstGeom prst="rect">
            <a:avLst/>
          </a:prstGeom>
          <a:solidFill>
            <a:srgbClr val="614AD3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79600" y="1219200"/>
            <a:ext cx="787400" cy="787400"/>
          </a:xfrm>
          <a:prstGeom prst="rect">
            <a:avLst/>
          </a:prstGeom>
          <a:solidFill>
            <a:srgbClr val="614AD3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FFFFFF"/>
                </a:solidFill>
                <a:latin typeface="Lexend SemiBold"/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67000" y="1219200"/>
            <a:ext cx="787400" cy="787400"/>
          </a:xfrm>
          <a:prstGeom prst="rect">
            <a:avLst/>
          </a:prstGeom>
          <a:solidFill>
            <a:srgbClr val="FFFF00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1E1647"/>
                </a:solidFill>
                <a:latin typeface="Lexend SemiBold"/>
              </a:rPr>
              <a:t>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4400" y="1219200"/>
            <a:ext cx="787400" cy="787400"/>
          </a:xfrm>
          <a:prstGeom prst="rect">
            <a:avLst/>
          </a:prstGeom>
          <a:solidFill>
            <a:srgbClr val="FFFF00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1E1647"/>
                </a:solidFill>
                <a:latin typeface="Lexend SemiBold"/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41800" y="1219200"/>
            <a:ext cx="787400" cy="787400"/>
          </a:xfrm>
          <a:prstGeom prst="rect">
            <a:avLst/>
          </a:prstGeom>
          <a:solidFill>
            <a:srgbClr val="FFFF00"/>
          </a:solidFill>
          <a:ln w="12700">
            <a:solidFill>
              <a:srgbClr val="614AD3"/>
            </a:solidFill>
          </a:ln>
        </p:spPr>
        <p:txBody>
          <a:bodyPr rtlCol="0" anchor="t" wrap="square" lIns="25400" rIns="25400" tIns="15240" bIns="15240">
            <a:noAutofit/>
          </a:bodyPr>
          <a:lstStyle/>
          <a:p>
            <a:pPr algn="r"/>
            <a:r>
              <a:rPr sz="900" b="0" i="0" u="none">
                <a:solidFill>
                  <a:srgbClr val="1E1647"/>
                </a:solidFill>
                <a:latin typeface="Lexend SemiBold"/>
              </a:rPr>
              <a:t>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15113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Lexend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2200" y="5181600"/>
            <a:ext cx="787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Lexend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9600" y="5181600"/>
            <a:ext cx="787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Lexend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67000" y="5181600"/>
            <a:ext cx="787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Lexend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4400" y="5181600"/>
            <a:ext cx="787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Lexend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1800" y="5181600"/>
            <a:ext cx="787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Lexend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-101600" y="3086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0" i="0" u="none">
                <a:solidFill>
                  <a:srgbClr val="FFFF00"/>
                </a:solidFill>
                <a:latin typeface="Lexend SemiBold"/>
              </a:rPr>
              <a:t>Probabilidade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200" y="5359400"/>
            <a:ext cx="3937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0" u="none">
                <a:solidFill>
                  <a:srgbClr val="FFFF00"/>
                </a:solidFill>
                <a:latin typeface="Lexend SemiBold"/>
              </a:rPr>
              <a:t>Impacto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10200" y="2164079"/>
            <a:ext cx="6324600" cy="204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u="none">
                <a:solidFill>
                  <a:srgbClr val="FFFF00"/>
                </a:solidFill>
                <a:latin typeface="Lexend SemiBold"/>
              </a:rPr>
              <a:t>15 a 25 · Alto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: resposta imediata.</a:t>
            </a:r>
          </a:p>
          <a:p>
            <a:pPr algn="l">
              <a:spcBef>
                <a:spcPts val="800"/>
              </a:spcBef>
            </a:pPr>
            <a:r>
              <a:rPr sz="1100" b="0" i="0" u="none">
                <a:solidFill>
                  <a:srgbClr val="614AD3"/>
                </a:solidFill>
                <a:latin typeface="Lexend SemiBold"/>
              </a:rPr>
              <a:t>5 a 12 · Médio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: plano de resposta e monitoramento.</a:t>
            </a:r>
          </a:p>
          <a:p>
            <a:pPr algn="l">
              <a:spcBef>
                <a:spcPts val="800"/>
              </a:spcBef>
            </a:pPr>
            <a:r>
              <a:rPr sz="1100" b="0" i="0" u="none">
                <a:solidFill>
                  <a:srgbClr val="FFFFFF"/>
                </a:solidFill>
                <a:latin typeface="Lexend SemiBold"/>
              </a:rPr>
              <a:t>1 a 4 · Baixo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: aceitar e observar.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943600"/>
            <a:ext cx="102616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0" i="0" u="none">
                <a:solidFill>
                  <a:srgbClr val="614AD3"/>
                </a:solidFill>
                <a:latin typeface="Lexend"/>
              </a:rPr>
              <a:t>Para posicionar os riscos, duplique a etiqueta (Ctrl+D), escreva o ID (RI-01…) e arraste para a célula de P × I.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45800" y="5930900"/>
            <a:ext cx="812800" cy="279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rtlCol="0" anchor="ctr" wrap="square" lIns="38100" rIns="38100" tIns="22859" bIns="22859">
            <a:noAutofit/>
          </a:bodyPr>
          <a:lstStyle/>
          <a:p>
            <a:pPr algn="ctr"/>
            <a:r>
              <a:rPr sz="900" b="0" i="0" u="none">
                <a:solidFill>
                  <a:srgbClr val="1E1647"/>
                </a:solidFill>
                <a:latin typeface="Lexend SemiBold"/>
              </a:rPr>
              <a:t>RI-01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3 de 6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⚠️  Riscos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68400"/>
            <a:ext cx="11277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 i="0" u="none">
                <a:solidFill>
                  <a:srgbClr val="614AD3"/>
                </a:solidFill>
                <a:latin typeface="Lexend"/>
              </a:rPr>
              <a:t>Colunas com ƒ são calculadas: faça a conta (ou use a versão .xlsx, que calcula sozinha).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0012"/>
          <a:ext cx="11277597" cy="34258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4215"/>
                <a:gridCol w="646744"/>
                <a:gridCol w="808430"/>
                <a:gridCol w="2101918"/>
                <a:gridCol w="727587"/>
                <a:gridCol w="363793"/>
                <a:gridCol w="363793"/>
                <a:gridCol w="404215"/>
                <a:gridCol w="606322"/>
                <a:gridCol w="808430"/>
                <a:gridCol w="1616860"/>
                <a:gridCol w="808430"/>
                <a:gridCol w="970116"/>
                <a:gridCol w="646744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ID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Categoria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Descrição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Tipo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I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P×I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Nível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Estratégia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Ações de resposta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Responsável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Gatilho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Status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301625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RI-01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causa → evento → efeito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1 a 5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1 a 5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4 de 6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⚠️  Riscos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597" cy="34258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4215"/>
                <a:gridCol w="646744"/>
                <a:gridCol w="808430"/>
                <a:gridCol w="2101918"/>
                <a:gridCol w="727587"/>
                <a:gridCol w="363793"/>
                <a:gridCol w="363793"/>
                <a:gridCol w="404215"/>
                <a:gridCol w="606322"/>
                <a:gridCol w="808430"/>
                <a:gridCol w="1616860"/>
                <a:gridCol w="808430"/>
                <a:gridCol w="970116"/>
                <a:gridCol w="646744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ID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Categoria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Descrição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Tipo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I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P×I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Nível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Estratégia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Ações de resposta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Responsável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Gatilho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Status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301625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RI-01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causa → evento → efeito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1 a 5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1 a 5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5 de 6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🗂️  Histórico de versões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597" cy="1066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1413"/>
                <a:gridCol w="1544876"/>
                <a:gridCol w="2471802"/>
                <a:gridCol w="6179506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Autoria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O que mudou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6 de 6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_code">
  <a:themeElements>
    <a:clrScheme name="Office">
      <a:dk1>
        <a:srgbClr val="1E1647"/>
      </a:dk1>
      <a:lt1>
        <a:srgbClr val="FFFFFF"/>
      </a:lt1>
      <a:dk2>
        <a:srgbClr val="1E1647"/>
      </a:dk2>
      <a:lt2>
        <a:srgbClr val="FFFFFF"/>
      </a:lt2>
      <a:accent1>
        <a:srgbClr val="614AD3"/>
      </a:accent1>
      <a:accent2>
        <a:srgbClr val="FFFF00"/>
      </a:accent2>
      <a:accent3>
        <a:srgbClr val="614AD3"/>
      </a:accent3>
      <a:accent4>
        <a:srgbClr val="FFFF00"/>
      </a:accent4>
      <a:accent5>
        <a:srgbClr val="614AD3"/>
      </a:accent5>
      <a:accent6>
        <a:srgbClr val="FFFF00"/>
      </a:accent6>
      <a:hlink>
        <a:srgbClr val="FFFF00"/>
      </a:hlink>
      <a:folHlink>
        <a:srgbClr val="614AD3"/>
      </a:folHlink>
    </a:clrScheme>
    <a:fontScheme name="Office">
      <a:maj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Registro de Riscos — for_code</dc:title>
  <dc:subject>Modelo 21 · Planejamento</dc:subject>
  <dc:creator>for_code · Diretoria de Projetos</dc:creator>
  <cp:keywords/>
  <dc:description>generated using python-pptx</dc:description>
  <cp:lastModifiedBy>for_code · Diretoria de Projetos</cp:lastModifiedBy>
  <cp:revision>1</cp:revision>
  <dcterms:created xsi:type="dcterms:W3CDTF">2026-09-24T00:00:00Z</dcterms:created>
  <dcterms:modified xsi:type="dcterms:W3CDTF">2026-09-24T00:00:00Z</dcterms:modified>
  <cp:category/>
</cp:coreProperties>
</file>