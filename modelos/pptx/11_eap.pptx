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usar: Monte em oficina depois da Declaração do Escopo. Regra dos 100%: tudo o que o projeto faz está na EAP, e nada além disso.</a:t>
            </a:r>
          </a:p>
          <a:p>
            <a:r>
              <a:t>Manual de preenchimento: manual 11_eap.pdf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Digite abaixo do número de cada caixa. Para mais caixas, duplique uma (Ctrl+D) e ligue com um conector em cotovelo: as setas presas acompanham a caixa quando você a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30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3000" b="0" i="0" u="none">
                <a:solidFill>
                  <a:srgbClr val="FFFFFF"/>
                </a:solidFill>
                <a:latin typeface="Lexend"/>
              </a:rPr>
              <a:t>Estrutura Analítica do Projeto</a:t>
            </a:r>
            <a:r>
              <a:rPr sz="30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70000"/>
            <a:ext cx="1127760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500" b="0" i="0" u="none">
                <a:solidFill>
                  <a:srgbClr val="614AD3"/>
                </a:solidFill>
                <a:latin typeface="Lexend"/>
              </a:rPr>
              <a:t>Decompõe todo o trabalho do projeto em entregas e pacotes de trabalho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84325"/>
            <a:ext cx="1066800" cy="190500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800" b="0" i="0" u="none">
                <a:solidFill>
                  <a:srgbClr val="1E1647"/>
                </a:solidFill>
                <a:latin typeface="Lexend SemiBold"/>
              </a:rPr>
              <a:t>ESSENCIAL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1584325"/>
            <a:ext cx="100838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0" i="0" u="none">
                <a:solidFill>
                  <a:srgbClr val="614AD3"/>
                </a:solidFill>
                <a:latin typeface="Lexend SemiBold"/>
              </a:rPr>
              <a:t>Modelo 11 · Planejamento · PMBOK: 5.4 Criar a EAP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89125"/>
            <a:ext cx="31750" cy="369887"/>
          </a:xfrm>
          <a:prstGeom prst="rect">
            <a:avLst/>
          </a:prstGeom>
          <a:solidFill>
            <a:srgbClr val="614A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" y="1889125"/>
            <a:ext cx="11150600" cy="3698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Lexend"/>
              </a:rPr>
              <a:t>Monte em oficina depois da Declaração do Escopo. Regra dos 100%: tudo o que o projeto faz está na EAP, e nada além disso.</a:t>
            </a:r>
          </a:p>
          <a:p>
            <a:pPr algn="l"/>
            <a:r>
              <a:rPr sz="1050" b="0" i="0" u="none">
                <a:solidFill>
                  <a:srgbClr val="614AD3"/>
                </a:solidFill>
                <a:latin typeface="Lexend SemiBold"/>
              </a:rPr>
              <a:t>Manual de preenchimento:</a:t>
            </a:r>
            <a:r>
              <a:rPr sz="1050" b="0" i="0" u="none">
                <a:solidFill>
                  <a:srgbClr val="FFFFFF"/>
                </a:solidFill>
                <a:latin typeface="Lexend"/>
              </a:rPr>
              <a:t> manual 11_eap.pdf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11412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🪪  Identificação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868612"/>
          <a:ext cx="11277600" cy="1219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000"/>
                <a:gridCol w="3733800"/>
                <a:gridCol w="1905000"/>
                <a:gridCol w="3733800"/>
              </a:tblGrid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Código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Formato F.PJ-nn (ex.: F.PJ-01)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Nome do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Gerente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A pessoa que lidera 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 do documento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Ex.: 1.0 (a 1ª aprovada)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DD/MM/AAAA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240212"/>
            <a:ext cx="11277600" cy="1009650"/>
          </a:xfrm>
          <a:prstGeom prst="rect">
            <a:avLst/>
          </a:prstGeom>
          <a:noFill/>
          <a:ln w="9525">
            <a:solidFill>
              <a:srgbClr val="614A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4316412"/>
            <a:ext cx="11074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614AD3"/>
                </a:solidFill>
                <a:latin typeface="Lexend SemiBold"/>
              </a:rPr>
              <a:t>Cadeia do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45012"/>
            <a:ext cx="10160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Vem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4800" y="4545012"/>
            <a:ext cx="100584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"/>
              </a:rPr>
              <a:t>08 Documentação de Requisitos · 10 Declaração do Escopo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4779962"/>
            <a:ext cx="101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Alimenta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4800" y="4779962"/>
            <a:ext cx="10058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"/>
              </a:rPr>
              <a:t>12 Dicionário da EAP · 13 Lista de Atividades · 14 Lista de Marcos · 15 Matriz RACI · 21 Registro de Riscos · 22 Planilha de Custos do Projeto · 25 Plano de Gerenciamento do Projeto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1 de 4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🌳  Árvore da EAP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79" y="1193800"/>
            <a:ext cx="4511040" cy="4826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Lexend SemiBold"/>
              </a:rPr>
              <a:t>Projeto (nível 0)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2006600"/>
            <a:ext cx="1752600" cy="4826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800" b="0" i="0" u="none">
                <a:solidFill>
                  <a:srgbClr val="614AD3"/>
                </a:solidFill>
                <a:latin typeface="Lexend SemiBold"/>
              </a:rPr>
              <a:t>1. Entrega</a:t>
            </a:r>
          </a:p>
          <a:p>
            <a:pPr>
              <a:spcBef>
                <a:spcPts val="300"/>
              </a:spcBef>
            </a:pPr>
            <a:endParaRPr lang="pt-BR" sz="100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6" name="Connector 5"/>
          <p:cNvCxnSpPr>
            <a:stCxn id="4" idx="2"/>
            <a:endCxn id="5" idx="0"/>
          </p:cNvCxnSpPr>
          <p:nvPr/>
        </p:nvCxnSpPr>
        <p:spPr>
          <a:xfrm rot="5400000">
            <a:off x="3549650" y="-539749"/>
            <a:ext cx="330200" cy="4762499"/>
          </a:xfrm>
          <a:prstGeom prst="bentConnector3">
            <a:avLst/>
          </a:prstGeom>
          <a:ln w="12700">
            <a:solidFill>
              <a:srgbClr val="614AD3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635000" y="26162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1.1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8" name="Connector 7"/>
          <p:cNvCxnSpPr>
            <a:stCxn id="5" idx="1"/>
            <a:endCxn id="7" idx="1"/>
          </p:cNvCxnSpPr>
          <p:nvPr/>
        </p:nvCxnSpPr>
        <p:spPr>
          <a:xfrm>
            <a:off x="457200" y="2247900"/>
            <a:ext cx="177800" cy="6477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635000" y="32766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1.2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10" name="Connector 9"/>
          <p:cNvCxnSpPr>
            <a:stCxn id="5" idx="1"/>
            <a:endCxn id="9" idx="1"/>
          </p:cNvCxnSpPr>
          <p:nvPr/>
        </p:nvCxnSpPr>
        <p:spPr>
          <a:xfrm>
            <a:off x="457200" y="2247900"/>
            <a:ext cx="177800" cy="13081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635000" y="39370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1.3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12" name="Connector 11"/>
          <p:cNvCxnSpPr>
            <a:stCxn id="5" idx="1"/>
            <a:endCxn id="11" idx="1"/>
          </p:cNvCxnSpPr>
          <p:nvPr/>
        </p:nvCxnSpPr>
        <p:spPr>
          <a:xfrm>
            <a:off x="457200" y="2247900"/>
            <a:ext cx="177800" cy="19685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635000" y="45974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1.4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14" name="Connector 13"/>
          <p:cNvCxnSpPr>
            <a:stCxn id="5" idx="1"/>
            <a:endCxn id="13" idx="1"/>
          </p:cNvCxnSpPr>
          <p:nvPr/>
        </p:nvCxnSpPr>
        <p:spPr>
          <a:xfrm>
            <a:off x="457200" y="2247900"/>
            <a:ext cx="177800" cy="26289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2362200" y="2006600"/>
            <a:ext cx="1752600" cy="4826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800" b="0" i="0" u="none">
                <a:solidFill>
                  <a:srgbClr val="614AD3"/>
                </a:solidFill>
                <a:latin typeface="Lexend SemiBold"/>
              </a:rPr>
              <a:t>2. Entrega</a:t>
            </a:r>
          </a:p>
          <a:p>
            <a:pPr>
              <a:spcBef>
                <a:spcPts val="300"/>
              </a:spcBef>
            </a:pPr>
            <a:endParaRPr lang="pt-BR" sz="100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16" name="Connector 15"/>
          <p:cNvCxnSpPr>
            <a:stCxn id="4" idx="2"/>
            <a:endCxn id="15" idx="0"/>
          </p:cNvCxnSpPr>
          <p:nvPr/>
        </p:nvCxnSpPr>
        <p:spPr>
          <a:xfrm rot="5400000">
            <a:off x="4502150" y="412751"/>
            <a:ext cx="330200" cy="2857499"/>
          </a:xfrm>
          <a:prstGeom prst="bentConnector3">
            <a:avLst/>
          </a:prstGeom>
          <a:ln w="12700">
            <a:solidFill>
              <a:srgbClr val="614AD3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540000" y="26162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2.1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18" name="Connector 17"/>
          <p:cNvCxnSpPr>
            <a:stCxn id="15" idx="1"/>
            <a:endCxn id="17" idx="1"/>
          </p:cNvCxnSpPr>
          <p:nvPr/>
        </p:nvCxnSpPr>
        <p:spPr>
          <a:xfrm>
            <a:off x="2362200" y="2247900"/>
            <a:ext cx="177800" cy="6477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2540000" y="32766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2.2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20" name="Connector 19"/>
          <p:cNvCxnSpPr>
            <a:stCxn id="15" idx="1"/>
            <a:endCxn id="19" idx="1"/>
          </p:cNvCxnSpPr>
          <p:nvPr/>
        </p:nvCxnSpPr>
        <p:spPr>
          <a:xfrm>
            <a:off x="2362200" y="2247900"/>
            <a:ext cx="177800" cy="13081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2540000" y="39370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2.3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22" name="Connector 21"/>
          <p:cNvCxnSpPr>
            <a:stCxn id="15" idx="1"/>
            <a:endCxn id="21" idx="1"/>
          </p:cNvCxnSpPr>
          <p:nvPr/>
        </p:nvCxnSpPr>
        <p:spPr>
          <a:xfrm>
            <a:off x="2362200" y="2247900"/>
            <a:ext cx="177800" cy="19685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2540000" y="45974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2.4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24" name="Connector 23"/>
          <p:cNvCxnSpPr>
            <a:stCxn id="15" idx="1"/>
            <a:endCxn id="23" idx="1"/>
          </p:cNvCxnSpPr>
          <p:nvPr/>
        </p:nvCxnSpPr>
        <p:spPr>
          <a:xfrm>
            <a:off x="2362200" y="2247900"/>
            <a:ext cx="177800" cy="26289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4267200" y="2006600"/>
            <a:ext cx="1752600" cy="4826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800" b="0" i="0" u="none">
                <a:solidFill>
                  <a:srgbClr val="614AD3"/>
                </a:solidFill>
                <a:latin typeface="Lexend SemiBold"/>
              </a:rPr>
              <a:t>3. Entrega</a:t>
            </a:r>
          </a:p>
          <a:p>
            <a:pPr>
              <a:spcBef>
                <a:spcPts val="300"/>
              </a:spcBef>
            </a:pPr>
            <a:endParaRPr lang="pt-BR" sz="100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26" name="Connector 25"/>
          <p:cNvCxnSpPr>
            <a:stCxn id="4" idx="2"/>
            <a:endCxn id="25" idx="0"/>
          </p:cNvCxnSpPr>
          <p:nvPr/>
        </p:nvCxnSpPr>
        <p:spPr>
          <a:xfrm rot="5400000">
            <a:off x="5454650" y="1365251"/>
            <a:ext cx="330200" cy="952499"/>
          </a:xfrm>
          <a:prstGeom prst="bentConnector3">
            <a:avLst/>
          </a:prstGeom>
          <a:ln w="12700">
            <a:solidFill>
              <a:srgbClr val="614AD3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4445000" y="26162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3.1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28" name="Connector 27"/>
          <p:cNvCxnSpPr>
            <a:stCxn id="25" idx="1"/>
            <a:endCxn id="27" idx="1"/>
          </p:cNvCxnSpPr>
          <p:nvPr/>
        </p:nvCxnSpPr>
        <p:spPr>
          <a:xfrm>
            <a:off x="4267200" y="2247900"/>
            <a:ext cx="177800" cy="6477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4445000" y="32766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3.2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30" name="Connector 29"/>
          <p:cNvCxnSpPr>
            <a:stCxn id="25" idx="1"/>
            <a:endCxn id="29" idx="1"/>
          </p:cNvCxnSpPr>
          <p:nvPr/>
        </p:nvCxnSpPr>
        <p:spPr>
          <a:xfrm>
            <a:off x="4267200" y="2247900"/>
            <a:ext cx="177800" cy="13081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31" name="Rectangle 30"/>
          <p:cNvSpPr/>
          <p:nvPr/>
        </p:nvSpPr>
        <p:spPr>
          <a:xfrm>
            <a:off x="4445000" y="39370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3.3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32" name="Connector 31"/>
          <p:cNvCxnSpPr>
            <a:stCxn id="25" idx="1"/>
            <a:endCxn id="31" idx="1"/>
          </p:cNvCxnSpPr>
          <p:nvPr/>
        </p:nvCxnSpPr>
        <p:spPr>
          <a:xfrm>
            <a:off x="4267200" y="2247900"/>
            <a:ext cx="177800" cy="19685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33" name="Rectangle 32"/>
          <p:cNvSpPr/>
          <p:nvPr/>
        </p:nvSpPr>
        <p:spPr>
          <a:xfrm>
            <a:off x="4445000" y="45974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3.4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34" name="Connector 33"/>
          <p:cNvCxnSpPr>
            <a:stCxn id="25" idx="1"/>
            <a:endCxn id="33" idx="1"/>
          </p:cNvCxnSpPr>
          <p:nvPr/>
        </p:nvCxnSpPr>
        <p:spPr>
          <a:xfrm>
            <a:off x="4267200" y="2247900"/>
            <a:ext cx="177800" cy="26289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6172200" y="2006600"/>
            <a:ext cx="1752600" cy="4826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800" b="0" i="0" u="none">
                <a:solidFill>
                  <a:srgbClr val="614AD3"/>
                </a:solidFill>
                <a:latin typeface="Lexend SemiBold"/>
              </a:rPr>
              <a:t>4. Entrega</a:t>
            </a:r>
          </a:p>
          <a:p>
            <a:pPr>
              <a:spcBef>
                <a:spcPts val="300"/>
              </a:spcBef>
            </a:pPr>
            <a:endParaRPr lang="pt-BR" sz="100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36" name="Connector 35"/>
          <p:cNvCxnSpPr>
            <a:stCxn id="4" idx="2"/>
            <a:endCxn id="35" idx="0"/>
          </p:cNvCxnSpPr>
          <p:nvPr/>
        </p:nvCxnSpPr>
        <p:spPr>
          <a:xfrm rot="5400000" flipV="1">
            <a:off x="6407150" y="1365249"/>
            <a:ext cx="330200" cy="952501"/>
          </a:xfrm>
          <a:prstGeom prst="bentConnector3">
            <a:avLst/>
          </a:prstGeom>
          <a:ln w="12700">
            <a:solidFill>
              <a:srgbClr val="614AD3"/>
            </a:solidFill>
          </a:ln>
        </p:spPr>
      </p:cxnSp>
      <p:sp>
        <p:nvSpPr>
          <p:cNvPr id="37" name="Rectangle 36"/>
          <p:cNvSpPr/>
          <p:nvPr/>
        </p:nvSpPr>
        <p:spPr>
          <a:xfrm>
            <a:off x="6350000" y="26162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4.1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38" name="Connector 37"/>
          <p:cNvCxnSpPr>
            <a:stCxn id="35" idx="1"/>
            <a:endCxn id="37" idx="1"/>
          </p:cNvCxnSpPr>
          <p:nvPr/>
        </p:nvCxnSpPr>
        <p:spPr>
          <a:xfrm>
            <a:off x="6172200" y="2247900"/>
            <a:ext cx="177800" cy="6477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39" name="Rectangle 38"/>
          <p:cNvSpPr/>
          <p:nvPr/>
        </p:nvSpPr>
        <p:spPr>
          <a:xfrm>
            <a:off x="6350000" y="32766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4.2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40" name="Connector 39"/>
          <p:cNvCxnSpPr>
            <a:stCxn id="35" idx="1"/>
            <a:endCxn id="39" idx="1"/>
          </p:cNvCxnSpPr>
          <p:nvPr/>
        </p:nvCxnSpPr>
        <p:spPr>
          <a:xfrm>
            <a:off x="6172200" y="2247900"/>
            <a:ext cx="177800" cy="13081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6350000" y="39370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4.3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42" name="Connector 41"/>
          <p:cNvCxnSpPr>
            <a:stCxn id="35" idx="1"/>
            <a:endCxn id="41" idx="1"/>
          </p:cNvCxnSpPr>
          <p:nvPr/>
        </p:nvCxnSpPr>
        <p:spPr>
          <a:xfrm>
            <a:off x="6172200" y="2247900"/>
            <a:ext cx="177800" cy="19685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43" name="Rectangle 42"/>
          <p:cNvSpPr/>
          <p:nvPr/>
        </p:nvSpPr>
        <p:spPr>
          <a:xfrm>
            <a:off x="6350000" y="45974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4.4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44" name="Connector 43"/>
          <p:cNvCxnSpPr>
            <a:stCxn id="35" idx="1"/>
            <a:endCxn id="43" idx="1"/>
          </p:cNvCxnSpPr>
          <p:nvPr/>
        </p:nvCxnSpPr>
        <p:spPr>
          <a:xfrm>
            <a:off x="6172200" y="2247900"/>
            <a:ext cx="177800" cy="26289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8077200" y="2006600"/>
            <a:ext cx="1752600" cy="4826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800" b="0" i="0" u="none">
                <a:solidFill>
                  <a:srgbClr val="614AD3"/>
                </a:solidFill>
                <a:latin typeface="Lexend SemiBold"/>
              </a:rPr>
              <a:t>5. Entrega</a:t>
            </a:r>
          </a:p>
          <a:p>
            <a:pPr>
              <a:spcBef>
                <a:spcPts val="300"/>
              </a:spcBef>
            </a:pPr>
            <a:endParaRPr lang="pt-BR" sz="100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46" name="Connector 45"/>
          <p:cNvCxnSpPr>
            <a:stCxn id="4" idx="2"/>
            <a:endCxn id="45" idx="0"/>
          </p:cNvCxnSpPr>
          <p:nvPr/>
        </p:nvCxnSpPr>
        <p:spPr>
          <a:xfrm rot="5400000" flipV="1">
            <a:off x="7359650" y="412749"/>
            <a:ext cx="330200" cy="2857501"/>
          </a:xfrm>
          <a:prstGeom prst="bentConnector3">
            <a:avLst/>
          </a:prstGeom>
          <a:ln w="12700">
            <a:solidFill>
              <a:srgbClr val="614AD3"/>
            </a:solidFill>
          </a:ln>
        </p:spPr>
      </p:cxnSp>
      <p:sp>
        <p:nvSpPr>
          <p:cNvPr id="47" name="Rectangle 46"/>
          <p:cNvSpPr/>
          <p:nvPr/>
        </p:nvSpPr>
        <p:spPr>
          <a:xfrm>
            <a:off x="8255000" y="26162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5.1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48" name="Connector 47"/>
          <p:cNvCxnSpPr>
            <a:stCxn id="45" idx="1"/>
            <a:endCxn id="47" idx="1"/>
          </p:cNvCxnSpPr>
          <p:nvPr/>
        </p:nvCxnSpPr>
        <p:spPr>
          <a:xfrm>
            <a:off x="8077200" y="2247900"/>
            <a:ext cx="177800" cy="6477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49" name="Rectangle 48"/>
          <p:cNvSpPr/>
          <p:nvPr/>
        </p:nvSpPr>
        <p:spPr>
          <a:xfrm>
            <a:off x="8255000" y="32766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5.2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50" name="Connector 49"/>
          <p:cNvCxnSpPr>
            <a:stCxn id="45" idx="1"/>
            <a:endCxn id="49" idx="1"/>
          </p:cNvCxnSpPr>
          <p:nvPr/>
        </p:nvCxnSpPr>
        <p:spPr>
          <a:xfrm>
            <a:off x="8077200" y="2247900"/>
            <a:ext cx="177800" cy="13081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51" name="Rectangle 50"/>
          <p:cNvSpPr/>
          <p:nvPr/>
        </p:nvSpPr>
        <p:spPr>
          <a:xfrm>
            <a:off x="8255000" y="39370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5.3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52" name="Connector 51"/>
          <p:cNvCxnSpPr>
            <a:stCxn id="45" idx="1"/>
            <a:endCxn id="51" idx="1"/>
          </p:cNvCxnSpPr>
          <p:nvPr/>
        </p:nvCxnSpPr>
        <p:spPr>
          <a:xfrm>
            <a:off x="8077200" y="2247900"/>
            <a:ext cx="177800" cy="19685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53" name="Rectangle 52"/>
          <p:cNvSpPr/>
          <p:nvPr/>
        </p:nvSpPr>
        <p:spPr>
          <a:xfrm>
            <a:off x="8255000" y="45974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5.4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54" name="Connector 53"/>
          <p:cNvCxnSpPr>
            <a:stCxn id="45" idx="1"/>
            <a:endCxn id="53" idx="1"/>
          </p:cNvCxnSpPr>
          <p:nvPr/>
        </p:nvCxnSpPr>
        <p:spPr>
          <a:xfrm>
            <a:off x="8077200" y="2247900"/>
            <a:ext cx="177800" cy="26289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55" name="Rectangle 54"/>
          <p:cNvSpPr/>
          <p:nvPr/>
        </p:nvSpPr>
        <p:spPr>
          <a:xfrm>
            <a:off x="9982200" y="2006600"/>
            <a:ext cx="1752600" cy="4826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800" b="0" i="0" u="none">
                <a:solidFill>
                  <a:srgbClr val="614AD3"/>
                </a:solidFill>
                <a:latin typeface="Lexend SemiBold"/>
              </a:rPr>
              <a:t>6. Entrega</a:t>
            </a:r>
          </a:p>
          <a:p>
            <a:pPr>
              <a:spcBef>
                <a:spcPts val="300"/>
              </a:spcBef>
            </a:pPr>
            <a:endParaRPr lang="pt-BR" sz="100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56" name="Connector 55"/>
          <p:cNvCxnSpPr>
            <a:stCxn id="4" idx="2"/>
            <a:endCxn id="55" idx="0"/>
          </p:cNvCxnSpPr>
          <p:nvPr/>
        </p:nvCxnSpPr>
        <p:spPr>
          <a:xfrm rot="5400000" flipV="1">
            <a:off x="8312150" y="-539751"/>
            <a:ext cx="330200" cy="4762501"/>
          </a:xfrm>
          <a:prstGeom prst="bentConnector3">
            <a:avLst/>
          </a:prstGeom>
          <a:ln w="12700">
            <a:solidFill>
              <a:srgbClr val="614AD3"/>
            </a:solidFill>
          </a:ln>
        </p:spPr>
      </p:cxnSp>
      <p:sp>
        <p:nvSpPr>
          <p:cNvPr id="57" name="Rectangle 56"/>
          <p:cNvSpPr/>
          <p:nvPr/>
        </p:nvSpPr>
        <p:spPr>
          <a:xfrm>
            <a:off x="10160000" y="26162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6.1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58" name="Connector 57"/>
          <p:cNvCxnSpPr>
            <a:stCxn id="55" idx="1"/>
            <a:endCxn id="57" idx="1"/>
          </p:cNvCxnSpPr>
          <p:nvPr/>
        </p:nvCxnSpPr>
        <p:spPr>
          <a:xfrm>
            <a:off x="9982200" y="2247900"/>
            <a:ext cx="177800" cy="6477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59" name="Rectangle 58"/>
          <p:cNvSpPr/>
          <p:nvPr/>
        </p:nvSpPr>
        <p:spPr>
          <a:xfrm>
            <a:off x="10160000" y="32766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6.2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60" name="Connector 59"/>
          <p:cNvCxnSpPr>
            <a:stCxn id="55" idx="1"/>
            <a:endCxn id="59" idx="1"/>
          </p:cNvCxnSpPr>
          <p:nvPr/>
        </p:nvCxnSpPr>
        <p:spPr>
          <a:xfrm>
            <a:off x="9982200" y="2247900"/>
            <a:ext cx="177800" cy="13081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61" name="Rectangle 60"/>
          <p:cNvSpPr/>
          <p:nvPr/>
        </p:nvSpPr>
        <p:spPr>
          <a:xfrm>
            <a:off x="10160000" y="39370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6.3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62" name="Connector 61"/>
          <p:cNvCxnSpPr>
            <a:stCxn id="55" idx="1"/>
            <a:endCxn id="61" idx="1"/>
          </p:cNvCxnSpPr>
          <p:nvPr/>
        </p:nvCxnSpPr>
        <p:spPr>
          <a:xfrm>
            <a:off x="9982200" y="2247900"/>
            <a:ext cx="177800" cy="19685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63" name="Rectangle 62"/>
          <p:cNvSpPr/>
          <p:nvPr/>
        </p:nvSpPr>
        <p:spPr>
          <a:xfrm>
            <a:off x="10160000" y="4597400"/>
            <a:ext cx="1574800" cy="5588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750" b="0" i="0" u="none">
                <a:solidFill>
                  <a:srgbClr val="614AD3"/>
                </a:solidFill>
                <a:latin typeface="Lexend SemiBold"/>
              </a:rPr>
              <a:t>6.4</a:t>
            </a:r>
          </a:p>
          <a:p>
            <a:pPr>
              <a:spcBef>
                <a:spcPts val="300"/>
              </a:spcBef>
            </a:pPr>
            <a:endParaRPr lang="pt-BR" sz="950">
              <a:solidFill>
                <a:srgbClr val="FFFFFF"/>
              </a:solidFill>
              <a:latin typeface="Lexend"/>
            </a:endParaRPr>
          </a:p>
        </p:txBody>
      </p:sp>
      <p:cxnSp>
        <p:nvCxnSpPr>
          <p:cNvPr id="64" name="Connector 63"/>
          <p:cNvCxnSpPr>
            <a:stCxn id="55" idx="1"/>
            <a:endCxn id="63" idx="1"/>
          </p:cNvCxnSpPr>
          <p:nvPr/>
        </p:nvCxnSpPr>
        <p:spPr>
          <a:xfrm>
            <a:off x="9982200" y="2247900"/>
            <a:ext cx="177800" cy="2628900"/>
          </a:xfrm>
          <a:prstGeom prst="bentConnector3">
            <a:avLst>
              <a:gd name="adj1" fmla="val -50000"/>
            </a:avLst>
          </a:prstGeom>
          <a:ln w="12700">
            <a:solidFill>
              <a:srgbClr val="614AD3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457200" y="5943600"/>
            <a:ext cx="112776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0" i="0" u="none">
                <a:solidFill>
                  <a:srgbClr val="614AD3"/>
                </a:solidFill>
                <a:latin typeface="Lexend"/>
              </a:rPr>
              <a:t>Digite abaixo do número de cada caixa. Para mais caixas, duplique uma (Ctrl+D) e ligue com um conector em cotovelo: as setas presas acompanham a caixa quando você a move.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2 de 4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🗂️  EAP em lista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596" cy="488156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56676"/>
                <a:gridCol w="4337538"/>
                <a:gridCol w="867507"/>
                <a:gridCol w="1156676"/>
                <a:gridCol w="1445846"/>
                <a:gridCol w="2313353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Código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Nome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Nível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Pai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Pacote de trabalho?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Responsável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18256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1, 1.1, 1.1.1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Substantivo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0 a 4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código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Sim / Não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3 de 4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🗂️  Histórico de versões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597" cy="1066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1413"/>
                <a:gridCol w="1544876"/>
                <a:gridCol w="2471802"/>
                <a:gridCol w="6179506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Autoria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O que mudou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4 de 4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_code">
  <a:themeElements>
    <a:clrScheme name="Office">
      <a:dk1>
        <a:srgbClr val="1E1647"/>
      </a:dk1>
      <a:lt1>
        <a:srgbClr val="FFFFFF"/>
      </a:lt1>
      <a:dk2>
        <a:srgbClr val="1E1647"/>
      </a:dk2>
      <a:lt2>
        <a:srgbClr val="FFFFFF"/>
      </a:lt2>
      <a:accent1>
        <a:srgbClr val="614AD3"/>
      </a:accent1>
      <a:accent2>
        <a:srgbClr val="FFFF00"/>
      </a:accent2>
      <a:accent3>
        <a:srgbClr val="614AD3"/>
      </a:accent3>
      <a:accent4>
        <a:srgbClr val="FFFF00"/>
      </a:accent4>
      <a:accent5>
        <a:srgbClr val="614AD3"/>
      </a:accent5>
      <a:accent6>
        <a:srgbClr val="FFFF00"/>
      </a:accent6>
      <a:hlink>
        <a:srgbClr val="FFFF00"/>
      </a:hlink>
      <a:folHlink>
        <a:srgbClr val="614AD3"/>
      </a:folHlink>
    </a:clrScheme>
    <a:fontScheme name="Office">
      <a:maj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Analítica do Projeto — for_code</dc:title>
  <dc:subject>Modelo 11 · Planejamento</dc:subject>
  <dc:creator>for_code · Diretoria de Projetos</dc:creator>
  <cp:keywords/>
  <dc:description>generated using python-pptx</dc:description>
  <cp:lastModifiedBy>for_code · Diretoria de Projetos</cp:lastModifiedBy>
  <cp:revision>1</cp:revision>
  <dcterms:created xsi:type="dcterms:W3CDTF">2026-09-24T00:00:00Z</dcterms:created>
  <dcterms:modified xsi:type="dcterms:W3CDTF">2026-09-24T00:00:00Z</dcterms:modified>
  <cp:category/>
</cp:coreProperties>
</file>