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Depois das estimativas. Liste as atividades de modo que as predecessoras venham antes; o caminho crítico é a sequência com folga zero.</a:t>
            </a:r>
          </a:p>
          <a:p>
            <a:r>
              <a:t>Manual de preenchimento: manual 18_diagrama_de_rede.pdf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Esqueleto de exemplo: apague as setas que não existem no seu projeto e contorne o caminho crítico em amarelo. As setas estão presas às caixas.</a:t>
            </a:r>
          </a:p>
          <a:p>
            <a:r>
              <a:t>A versão .xlsx calcula ES, EF, LS, LF e a folga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Diagrama de Rede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Sequencia as atividades e revela o caminho crítico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614AD3"/>
                </a:solidFill>
                <a:latin typeface="Lexend SemiBold"/>
              </a:rPr>
              <a:t>COMPLEMENTAR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18 · Planejamento · PMBOK: 6.3 Sequenciar as Atividades · CPM (6.5)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Depois das estimativas. Liste as atividades de modo que as predecessoras venham antes; o caminho crítico é a sequência com folga zero.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18_diagrama_de_rede.pdf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8509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13 Lista de Atividades · 14 Lista de Marcos · 17 Estimativa das Atividades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77996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77996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19 Cronograma do Projeto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🕸️  Rede de atividades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684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1400" y="11684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Duração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5600" y="11684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EF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752600" cy="2540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Nome da atividade (código da EAP)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56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1400" y="16256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Folga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5600" y="1625600"/>
            <a:ext cx="584200" cy="203200"/>
          </a:xfrm>
          <a:prstGeom prst="rect">
            <a:avLst/>
          </a:prstGeom>
          <a:noFill/>
          <a:ln w="10160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750" b="0" i="0" u="none">
                <a:solidFill>
                  <a:srgbClr val="FFFFFF"/>
                </a:solidFill>
                <a:latin typeface="Lexend"/>
              </a:rPr>
              <a:t>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800" y="1168400"/>
            <a:ext cx="9271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Lexend SemiBold"/>
              </a:rPr>
              <a:t>ES/EF</a:t>
            </a:r>
            <a:r>
              <a:rPr sz="900" b="0" i="0" u="none">
                <a:solidFill>
                  <a:srgbClr val="FFFFFF"/>
                </a:solidFill>
                <a:latin typeface="Lexend"/>
              </a:rPr>
              <a:t>: início e término mais cedo (passagem de ida).</a:t>
            </a:r>
          </a:p>
          <a:p>
            <a:pPr algn="l"/>
            <a:r>
              <a:rPr sz="900" b="0" i="0" u="none">
                <a:solidFill>
                  <a:srgbClr val="FFFFFF"/>
                </a:solidFill>
                <a:latin typeface="Lexend SemiBold"/>
              </a:rPr>
              <a:t>LS/LF</a:t>
            </a:r>
            <a:r>
              <a:rPr sz="900" b="0" i="0" u="none">
                <a:solidFill>
                  <a:srgbClr val="FFFFFF"/>
                </a:solidFill>
                <a:latin typeface="Lexend"/>
              </a:rPr>
              <a:t>: início e término mais tarde (passagem de volta).</a:t>
            </a:r>
          </a:p>
          <a:p>
            <a:pPr algn="l"/>
            <a:r>
              <a:rPr sz="900" b="0" i="0" u="none">
                <a:solidFill>
                  <a:srgbClr val="FFFFFF"/>
                </a:solidFill>
                <a:latin typeface="Lexend SemiBold"/>
              </a:rPr>
              <a:t>Folga</a:t>
            </a:r>
            <a:r>
              <a:rPr sz="900" b="0" i="0" u="none">
                <a:solidFill>
                  <a:srgbClr val="FFFFFF"/>
                </a:solidFill>
                <a:latin typeface="Lexend"/>
              </a:rPr>
              <a:t> = LS − ES. Folga zero = </a:t>
            </a:r>
            <a:r>
              <a:rPr sz="900" b="0" i="0" u="none">
                <a:solidFill>
                  <a:srgbClr val="FFFF00"/>
                </a:solidFill>
                <a:latin typeface="Lexend"/>
              </a:rPr>
              <a:t>caminho crítico</a:t>
            </a:r>
            <a:r>
              <a:rPr sz="900" b="0" i="0" u="none">
                <a:solidFill>
                  <a:srgbClr val="FFFFFF"/>
                </a:solidFill>
                <a:latin typeface="Lexend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0066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3520" y="20066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3520" y="29718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3520" y="39370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9040" y="20066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9040" y="29718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9040" y="39370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4559" y="20066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4559" y="29718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4559" y="39370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0080" y="2006600"/>
            <a:ext cx="1874520" cy="685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38100" rIns="38100" tIns="22859" bIns="22859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"/>
              </a:rPr>
              <a:t>ES   ·   Dur.   ·   EF</a:t>
            </a:r>
          </a:p>
          <a:p>
            <a:pPr algn="ctr"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  <a:p>
            <a:pPr algn="ctr">
              <a:spcBef>
                <a:spcPts val="300"/>
              </a:spcBef>
            </a:pPr>
            <a:r>
              <a:rPr sz="700" b="0" i="0" u="none">
                <a:solidFill>
                  <a:srgbClr val="614AD3"/>
                </a:solidFill>
                <a:latin typeface="Lexend"/>
              </a:rPr>
              <a:t>LS   ·   Folga   ·   LF</a:t>
            </a:r>
          </a:p>
        </p:txBody>
      </p:sp>
      <p:cxnSp>
        <p:nvCxnSpPr>
          <p:cNvPr id="23" name="Connector 22"/>
          <p:cNvCxnSpPr>
            <a:stCxn id="12" idx="3"/>
            <a:endCxn id="13" idx="1"/>
          </p:cNvCxnSpPr>
          <p:nvPr/>
        </p:nvCxnSpPr>
        <p:spPr>
          <a:xfrm>
            <a:off x="2382520" y="2349500"/>
            <a:ext cx="381000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4" name="Connector 23"/>
          <p:cNvCxnSpPr>
            <a:stCxn id="12" idx="3"/>
            <a:endCxn id="14" idx="1"/>
          </p:cNvCxnSpPr>
          <p:nvPr/>
        </p:nvCxnSpPr>
        <p:spPr>
          <a:xfrm>
            <a:off x="2382520" y="2349500"/>
            <a:ext cx="381000" cy="96520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5" name="Connector 24"/>
          <p:cNvCxnSpPr>
            <a:stCxn id="12" idx="3"/>
            <a:endCxn id="15" idx="1"/>
          </p:cNvCxnSpPr>
          <p:nvPr/>
        </p:nvCxnSpPr>
        <p:spPr>
          <a:xfrm>
            <a:off x="2382520" y="2349500"/>
            <a:ext cx="381000" cy="193040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6" name="Connector 25"/>
          <p:cNvCxnSpPr>
            <a:stCxn id="13" idx="3"/>
            <a:endCxn id="16" idx="1"/>
          </p:cNvCxnSpPr>
          <p:nvPr/>
        </p:nvCxnSpPr>
        <p:spPr>
          <a:xfrm>
            <a:off x="4638040" y="2349500"/>
            <a:ext cx="381000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7" name="Connector 26"/>
          <p:cNvCxnSpPr>
            <a:stCxn id="14" idx="3"/>
            <a:endCxn id="17" idx="1"/>
          </p:cNvCxnSpPr>
          <p:nvPr/>
        </p:nvCxnSpPr>
        <p:spPr>
          <a:xfrm>
            <a:off x="4638040" y="3314700"/>
            <a:ext cx="381000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8" name="Connector 27"/>
          <p:cNvCxnSpPr>
            <a:stCxn id="15" idx="3"/>
            <a:endCxn id="18" idx="1"/>
          </p:cNvCxnSpPr>
          <p:nvPr/>
        </p:nvCxnSpPr>
        <p:spPr>
          <a:xfrm>
            <a:off x="4638040" y="4279900"/>
            <a:ext cx="381000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29" name="Connector 28"/>
          <p:cNvCxnSpPr>
            <a:stCxn id="16" idx="3"/>
            <a:endCxn id="19" idx="1"/>
          </p:cNvCxnSpPr>
          <p:nvPr/>
        </p:nvCxnSpPr>
        <p:spPr>
          <a:xfrm>
            <a:off x="6893560" y="2349500"/>
            <a:ext cx="380999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30" name="Connector 29"/>
          <p:cNvCxnSpPr>
            <a:stCxn id="17" idx="3"/>
            <a:endCxn id="20" idx="1"/>
          </p:cNvCxnSpPr>
          <p:nvPr/>
        </p:nvCxnSpPr>
        <p:spPr>
          <a:xfrm>
            <a:off x="6893560" y="3314700"/>
            <a:ext cx="380999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31" name="Connector 30"/>
          <p:cNvCxnSpPr>
            <a:stCxn id="18" idx="3"/>
            <a:endCxn id="21" idx="1"/>
          </p:cNvCxnSpPr>
          <p:nvPr/>
        </p:nvCxnSpPr>
        <p:spPr>
          <a:xfrm>
            <a:off x="6893560" y="4279900"/>
            <a:ext cx="380999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32" name="Connector 31"/>
          <p:cNvCxnSpPr>
            <a:stCxn id="19" idx="3"/>
            <a:endCxn id="22" idx="1"/>
          </p:cNvCxnSpPr>
          <p:nvPr/>
        </p:nvCxnSpPr>
        <p:spPr>
          <a:xfrm>
            <a:off x="9149079" y="2349500"/>
            <a:ext cx="381001" cy="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33" name="Connector 32"/>
          <p:cNvCxnSpPr>
            <a:stCxn id="20" idx="3"/>
            <a:endCxn id="22" idx="1"/>
          </p:cNvCxnSpPr>
          <p:nvPr/>
        </p:nvCxnSpPr>
        <p:spPr>
          <a:xfrm flipV="1">
            <a:off x="9149079" y="2349500"/>
            <a:ext cx="381001" cy="96520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cxnSp>
        <p:nvCxnSpPr>
          <p:cNvPr id="34" name="Connector 33"/>
          <p:cNvCxnSpPr>
            <a:stCxn id="21" idx="3"/>
            <a:endCxn id="22" idx="1"/>
          </p:cNvCxnSpPr>
          <p:nvPr/>
        </p:nvCxnSpPr>
        <p:spPr>
          <a:xfrm flipV="1">
            <a:off x="9149079" y="2349500"/>
            <a:ext cx="381001" cy="1930400"/>
          </a:xfrm>
          <a:prstGeom prst="line">
            <a:avLst/>
          </a:prstGeom>
          <a:ln w="12700">
            <a:solidFill>
              <a:srgbClr val="614AD3"/>
            </a:solidFill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457200" y="59436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Esqueleto de exemplo: apague as setas que não existem no seu projeto e contorne o caminho crítico em amarelo. As setas estão presas às caixas.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🕸️  Cálculo das datas e folgas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11277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 i="0" u="none">
                <a:solidFill>
                  <a:srgbClr val="614AD3"/>
                </a:solidFill>
                <a:latin typeface="Lexend"/>
              </a:rPr>
              <a:t>Colunas com ƒ são calculadas: faça a conta (ou use a versão .xlsx, que calcula sozinha).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0012"/>
          <a:ext cx="11277592" cy="47259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7718"/>
                <a:gridCol w="863356"/>
                <a:gridCol w="2805910"/>
                <a:gridCol w="863356"/>
                <a:gridCol w="755437"/>
                <a:gridCol w="755437"/>
                <a:gridCol w="755437"/>
                <a:gridCol w="647517"/>
                <a:gridCol w="647517"/>
                <a:gridCol w="647517"/>
                <a:gridCol w="647517"/>
                <a:gridCol w="647517"/>
                <a:gridCol w="86335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#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Atividade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Duração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Pred. 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Pred. 2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Pred. 3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EF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LS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LF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Folga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Crítica?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301625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EAP (ex.: 1.1)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dias ou semanas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7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8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9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10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12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13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14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15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62235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Rede — for_code</dc:title>
  <dc:subject>Modelo 18 · Planejamento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