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usar: Preencha logo depois do TAP e atualize sempre que alguém entrar, sair ou mudar de postura. Informações sensíveis: restrinja o acesso.</a:t>
            </a:r>
          </a:p>
          <a:p>
            <a:r>
              <a:t>Manual de preenchimento: manual 06_registro_das_partes_interessadas.pdf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Escreva cada parte interessada no quadrante dela, ou duplique o post-it (Ctrl+D), escreva o ID e arraste para a posição.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30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3000" b="0" i="0" u="none">
                <a:solidFill>
                  <a:srgbClr val="FFFFFF"/>
                </a:solidFill>
                <a:latin typeface="Lexend"/>
              </a:rPr>
              <a:t>Registro das Partes Interessadas</a:t>
            </a:r>
            <a:r>
              <a:rPr sz="30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70000"/>
            <a:ext cx="1127760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500" b="0" i="0" u="none">
                <a:solidFill>
                  <a:srgbClr val="614AD3"/>
                </a:solidFill>
                <a:latin typeface="Lexend"/>
              </a:rPr>
              <a:t>Quem afeta o projeto ou é afetado por ele — e como engajar cada um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84325"/>
            <a:ext cx="1066800" cy="190500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800" b="0" i="0" u="none">
                <a:solidFill>
                  <a:srgbClr val="1E1647"/>
                </a:solidFill>
                <a:latin typeface="Lexend SemiBold"/>
              </a:rPr>
              <a:t>ESSENCIAL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1584325"/>
            <a:ext cx="100838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 SemiBold"/>
              </a:rPr>
              <a:t>Modelo 06 · Iniciação · PMBOK: 13.1 Identificar as Partes Interessadas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89125"/>
            <a:ext cx="31750" cy="369887"/>
          </a:xfrm>
          <a:prstGeom prst="rect">
            <a:avLst/>
          </a:prstGeom>
          <a:solidFill>
            <a:srgbClr val="614A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" y="1889125"/>
            <a:ext cx="11150600" cy="3698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Lexend"/>
              </a:rPr>
              <a:t>Preencha logo depois do TAP e atualize sempre que alguém entrar, sair ou mudar de postura. Informações sensíveis: restrinja o acesso.</a:t>
            </a:r>
          </a:p>
          <a:p>
            <a:pPr algn="l"/>
            <a:r>
              <a:rPr sz="1050" b="0" i="0" u="none">
                <a:solidFill>
                  <a:srgbClr val="614AD3"/>
                </a:solidFill>
                <a:latin typeface="Lexend SemiBold"/>
              </a:rPr>
              <a:t>Manual de preenchimento:</a:t>
            </a:r>
            <a:r>
              <a:rPr sz="1050" b="0" i="0" u="none">
                <a:solidFill>
                  <a:srgbClr val="FFFFFF"/>
                </a:solidFill>
                <a:latin typeface="Lexend"/>
              </a:rPr>
              <a:t> manual 06_registro_das_partes_interessadas.pdf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11412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🪪  Identificação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868612"/>
          <a:ext cx="11277600" cy="1219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/>
                <a:gridCol w="3733800"/>
                <a:gridCol w="1905000"/>
                <a:gridCol w="3733800"/>
              </a:tblGrid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Código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Formato F.PJ-nn (ex.: F.PJ-01)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Nome do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Gerente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A pessoa que lidera 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 do documento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Ex.: 1.0 (a 1ª aprovada)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DD/MM/AAAA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240212"/>
            <a:ext cx="11277600" cy="1009650"/>
          </a:xfrm>
          <a:prstGeom prst="rect">
            <a:avLst/>
          </a:prstGeom>
          <a:noFill/>
          <a:ln w="9525">
            <a:solidFill>
              <a:srgbClr val="614A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4316412"/>
            <a:ext cx="11074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614AD3"/>
                </a:solidFill>
                <a:latin typeface="Lexend SemiBold"/>
              </a:rPr>
              <a:t>Cadeia do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545012"/>
            <a:ext cx="10160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Vem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4800" y="4545012"/>
            <a:ext cx="100584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03 Project Model Canvas · 04 Termo de Abertura do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4779962"/>
            <a:ext cx="1016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Alimenta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4800" y="4779962"/>
            <a:ext cx="10058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07 Acordo da Equipe · 08 Documentação de Requisitos · 15 Matriz RACI · 21 Registro de Riscos · 23 Plano de Comunicação · 24 Plano de Engajamento das Partes Interessadas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1 de 5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👥  Registro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596" cy="49275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2823"/>
                <a:gridCol w="1990164"/>
                <a:gridCol w="1769035"/>
                <a:gridCol w="1547905"/>
                <a:gridCol w="1658470"/>
                <a:gridCol w="1105647"/>
                <a:gridCol w="2653552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ID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Nome ou grupo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Organização ou cargo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Contato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Papel no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Interna/externa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Expectativas principais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182562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Interna / Externa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51643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51643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51643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51643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51643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51643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51643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51643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51643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51643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2 de 5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🧭  Análise poder × interesse e engajamento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68400"/>
            <a:ext cx="11277600" cy="301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 i="0" u="none">
                <a:solidFill>
                  <a:srgbClr val="614AD3"/>
                </a:solidFill>
                <a:latin typeface="Lexend"/>
              </a:rPr>
              <a:t>Quadrante: poder alto + interesse alto = gerenciar de perto; poder alto + interesse baixo = manter satisfeito; poder baixo + interesse alto = manter informado; os dois baixos = monitorar. Colunas com ƒ são calculadas: faça a conta (ou use a versão .xlsx, que calcula sozinha).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20825"/>
          <a:ext cx="11277596" cy="335438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0330"/>
                <a:gridCol w="1765189"/>
                <a:gridCol w="784528"/>
                <a:gridCol w="882594"/>
                <a:gridCol w="1569057"/>
                <a:gridCol w="1274859"/>
                <a:gridCol w="1274859"/>
                <a:gridCol w="1274859"/>
                <a:gridCol w="1961321"/>
              </a:tblGrid>
              <a:tr h="377825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ID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Nome ou grupo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Poder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Interesse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Quadrante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Engajamento atual (C)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Engajamento desejado (D)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Fase de maior interesse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Observações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182562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Alto / Baixo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Alto / Baixo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614AD3"/>
                          </a:solidFill>
                          <a:latin typeface="Lexend SemiBold"/>
                        </a:rPr>
                        <a:t>ƒ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3 de 5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🧭  Análise poder × interesse e engajamento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787400" y="1168400"/>
            <a:ext cx="5422900" cy="21590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Manter satisfeito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Poder alto, interesse baixo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61100" y="1168400"/>
            <a:ext cx="5422900" cy="21590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Gerenciar de perto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Poder alto, interesse alto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7400" y="3378200"/>
            <a:ext cx="5422900" cy="21590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Monitorar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Poder baixo, interesse baixo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61100" y="3378200"/>
            <a:ext cx="5422900" cy="2159000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Manter informado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Poder baixo, interesse alto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-177800" y="32512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0" i="0" u="none">
                <a:solidFill>
                  <a:srgbClr val="FFFF00"/>
                </a:solidFill>
                <a:latin typeface="Lexend SemiBold"/>
              </a:rPr>
              <a:t>Poder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400" y="5613400"/>
            <a:ext cx="10947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 u="none">
                <a:solidFill>
                  <a:srgbClr val="FFFF00"/>
                </a:solidFill>
                <a:latin typeface="Lexend SemiBold"/>
              </a:rPr>
              <a:t>Interesse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2616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"/>
              </a:rPr>
              <a:t>Escreva cada parte interessada no quadrante dela, ou duplique o post-it (Ctrl+D), escreva o ID e arraste para a posição.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45800" y="5930900"/>
            <a:ext cx="812800" cy="279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rtlCol="0" anchor="ctr" wrap="square" lIns="38100" rIns="38100" tIns="22859" bIns="22859">
            <a:noAutofit/>
          </a:bodyPr>
          <a:lstStyle/>
          <a:p>
            <a:pPr algn="ctr"/>
            <a:r>
              <a:rPr sz="900" b="0" i="0" u="none">
                <a:solidFill>
                  <a:srgbClr val="1E1647"/>
                </a:solidFill>
                <a:latin typeface="Lexend SemiBold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4 de 5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🗂️  Histórico de versões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597" cy="1066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1413"/>
                <a:gridCol w="1544876"/>
                <a:gridCol w="2471802"/>
                <a:gridCol w="6179506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Autoria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O que mudou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5 de 5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_code">
  <a:themeElements>
    <a:clrScheme name="Office">
      <a:dk1>
        <a:srgbClr val="1E1647"/>
      </a:dk1>
      <a:lt1>
        <a:srgbClr val="FFFFFF"/>
      </a:lt1>
      <a:dk2>
        <a:srgbClr val="1E1647"/>
      </a:dk2>
      <a:lt2>
        <a:srgbClr val="FFFFFF"/>
      </a:lt2>
      <a:accent1>
        <a:srgbClr val="614AD3"/>
      </a:accent1>
      <a:accent2>
        <a:srgbClr val="FFFF00"/>
      </a:accent2>
      <a:accent3>
        <a:srgbClr val="614AD3"/>
      </a:accent3>
      <a:accent4>
        <a:srgbClr val="FFFF00"/>
      </a:accent4>
      <a:accent5>
        <a:srgbClr val="614AD3"/>
      </a:accent5>
      <a:accent6>
        <a:srgbClr val="FFFF00"/>
      </a:accent6>
      <a:hlink>
        <a:srgbClr val="FFFF00"/>
      </a:hlink>
      <a:folHlink>
        <a:srgbClr val="614AD3"/>
      </a:folHlink>
    </a:clrScheme>
    <a:fontScheme name="Office">
      <a:maj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Registro das Partes Interessadas — for_code</dc:title>
  <dc:subject>Modelo 06 · Iniciação</dc:subject>
  <dc:creator>for_code · Diretoria de Projetos</dc:creator>
  <cp:keywords/>
  <dc:description>generated using python-pptx</dc:description>
  <cp:lastModifiedBy>for_code · Diretoria de Projetos</cp:lastModifiedBy>
  <cp:revision>1</cp:revision>
  <dcterms:created xsi:type="dcterms:W3CDTF">2026-09-24T00:00:00Z</dcterms:created>
  <dcterms:modified xsi:type="dcterms:W3CDTF">2026-09-24T00:00:00Z</dcterms:modified>
  <cp:category/>
</cp:coreProperties>
</file>