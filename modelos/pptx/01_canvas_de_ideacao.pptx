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usar: Use na triagem de ideias, antes de qualquer documento formal. Preencha na ordem dos blocos: do problema ao impacto.</a:t>
            </a:r>
          </a:p>
          <a:p>
            <a:r>
              <a:t>Manual de preenchimento: manual 01_canvas_de_ideacao.pdf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Clique no bloco, abaixo da dica, e digite. Para notas soltas, duplique o post-it (Ctrl+D) e arraste para o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Checklist: troque ☐ por ☒ nos itens que já valem.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30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3000" b="0" i="0" u="none">
                <a:solidFill>
                  <a:srgbClr val="FFFFFF"/>
                </a:solidFill>
                <a:latin typeface="Lexend"/>
              </a:rPr>
              <a:t>Canvas de Ideação</a:t>
            </a:r>
            <a:r>
              <a:rPr sz="30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70000"/>
            <a:ext cx="1127760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500" b="0" i="0" u="none">
                <a:solidFill>
                  <a:srgbClr val="614AD3"/>
                </a:solidFill>
                <a:latin typeface="Lexend"/>
              </a:rPr>
              <a:t>Uma página para decidir se a ideia merece virar projeto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84325"/>
            <a:ext cx="1066800" cy="190500"/>
          </a:xfrm>
          <a:prstGeom prst="rect">
            <a:avLst/>
          </a:prstGeom>
          <a:noFill/>
          <a:ln w="9525">
            <a:solidFill>
              <a:srgbClr val="614AD3"/>
            </a:solidFill>
          </a:ln>
        </p:spPr>
        <p:txBody>
          <a:bodyPr rtlCol="0" anchor="ctr" wrap="square" lIns="12700" rIns="12700" tIns="7620" bIns="7620">
            <a:noAutofit/>
          </a:bodyPr>
          <a:lstStyle/>
          <a:p>
            <a:pPr algn="ctr"/>
            <a:r>
              <a:rPr sz="800" b="0" i="0" u="none">
                <a:solidFill>
                  <a:srgbClr val="614AD3"/>
                </a:solidFill>
                <a:latin typeface="Lexend SemiBold"/>
              </a:rPr>
              <a:t>COMPLEMENTAR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1000" y="1584325"/>
            <a:ext cx="100838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900" b="0" i="0" u="none">
                <a:solidFill>
                  <a:srgbClr val="614AD3"/>
                </a:solidFill>
                <a:latin typeface="Lexend SemiBold"/>
              </a:rPr>
              <a:t>Modelo 01 · Iniciação · PMBOK: fora do PMBOK — triagem de ideias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89125"/>
            <a:ext cx="31750" cy="369887"/>
          </a:xfrm>
          <a:prstGeom prst="rect">
            <a:avLst/>
          </a:prstGeom>
          <a:solidFill>
            <a:srgbClr val="614A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" y="1889125"/>
            <a:ext cx="11150600" cy="3698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Lexend"/>
              </a:rPr>
              <a:t>Use na triagem de ideias, antes de qualquer documento formal. Preencha na ordem dos blocos: do problema ao impacto.</a:t>
            </a:r>
          </a:p>
          <a:p>
            <a:pPr algn="l"/>
            <a:r>
              <a:rPr sz="1050" b="0" i="0" u="none">
                <a:solidFill>
                  <a:srgbClr val="614AD3"/>
                </a:solidFill>
                <a:latin typeface="Lexend SemiBold"/>
              </a:rPr>
              <a:t>Manual de preenchimento:</a:t>
            </a:r>
            <a:r>
              <a:rPr sz="1050" b="0" i="0" u="none">
                <a:solidFill>
                  <a:srgbClr val="FFFFFF"/>
                </a:solidFill>
                <a:latin typeface="Lexend"/>
              </a:rPr>
              <a:t> manual 01_canvas_de_ideacao.pdf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11412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🪪  Identificação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868612"/>
          <a:ext cx="11277600" cy="1219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5000"/>
                <a:gridCol w="3733800"/>
                <a:gridCol w="1905000"/>
                <a:gridCol w="3733800"/>
              </a:tblGrid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Código do projeto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Formato F.PJ-nn (ex.: F.PJ-01)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Nome do projeto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Gerente do projeto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A pessoa que lidera o projeto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Versão do documento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Ex.: 1.0 (a 1ª aprovada)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Data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DD/MM/AAAA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4240212"/>
            <a:ext cx="11277600" cy="850900"/>
          </a:xfrm>
          <a:prstGeom prst="rect">
            <a:avLst/>
          </a:prstGeom>
          <a:noFill/>
          <a:ln w="9525">
            <a:solidFill>
              <a:srgbClr val="614A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4316412"/>
            <a:ext cx="11074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614AD3"/>
                </a:solidFill>
                <a:latin typeface="Lexend SemiBold"/>
              </a:rPr>
              <a:t>Cadeia do projeto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45012"/>
            <a:ext cx="10160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 SemiBold"/>
              </a:rPr>
              <a:t>Vem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4800" y="4545012"/>
            <a:ext cx="100584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614AD3"/>
                </a:solidFill>
                <a:latin typeface="Lexend SemiBold"/>
              </a:rPr>
              <a:t>Ponto de partida — nenhum documento antes deste.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4779962"/>
            <a:ext cx="10160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 SemiBold"/>
              </a:rPr>
              <a:t>Alimenta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4800" y="4779962"/>
            <a:ext cx="100584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"/>
              </a:rPr>
              <a:t>02 Business Case · 03 Project Model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1 de 5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💡  A ideia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68400"/>
          <a:ext cx="11277600" cy="134937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94000"/>
                <a:gridCol w="8483600"/>
              </a:tblGrid>
              <a:tr h="395287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Título provisório</a:t>
                      </a:r>
                    </a:p>
                    <a:p>
                      <a:pPr algn="l"/>
                      <a:r>
                        <a:rPr sz="800" b="0" i="0" u="none">
                          <a:solidFill>
                            <a:srgbClr val="614AD3"/>
                          </a:solidFill>
                          <a:latin typeface="Lexend"/>
                        </a:rPr>
                        <a:t>Nome curto e descritivo</a:t>
                      </a: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1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395287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Proponente(s)</a:t>
                      </a:r>
                    </a:p>
                    <a:p>
                      <a:pPr algn="l"/>
                      <a:r>
                        <a:rPr sz="800" b="0" i="0" u="none">
                          <a:solidFill>
                            <a:srgbClr val="614AD3"/>
                          </a:solidFill>
                          <a:latin typeface="Lexend"/>
                        </a:rPr>
                        <a:t>Quem traz a ideia</a:t>
                      </a: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1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Por que a for_code?</a:t>
                      </a:r>
                    </a:p>
                    <a:p>
                      <a:pPr algn="l"/>
                      <a:r>
                        <a:rPr sz="800" b="0" i="0" u="none">
                          <a:solidFill>
                            <a:srgbClr val="614AD3"/>
                          </a:solidFill>
                          <a:latin typeface="Lexend"/>
                        </a:rPr>
                        <a:t>Como a ideia se liga à missão da liga</a:t>
                      </a: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1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2 de 5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🧩 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68400"/>
            <a:ext cx="3708400" cy="22987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1. Problema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Que dor ou oportunidade existe hoje? Com que evidência?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16400" y="1168400"/>
            <a:ext cx="3708400" cy="22987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2. Público-alvo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Quem sente o problema? Seja específico.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75600" y="1168400"/>
            <a:ext cx="3708400" cy="22987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3. Solução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O que a liga faria, em uma frase.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517900"/>
            <a:ext cx="7467600" cy="22987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4. O que fazer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As grandes ações para tirar a solução do papel.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75600" y="3517900"/>
            <a:ext cx="3708400" cy="22987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5. Impacto esperado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O que muda para o público se der certo? Como medir?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02616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900" b="0" i="0" u="none">
                <a:solidFill>
                  <a:srgbClr val="614AD3"/>
                </a:solidFill>
                <a:latin typeface="Lexend"/>
              </a:rPr>
              <a:t>Clique no bloco, abaixo da dica, e digite. Para notas soltas, duplique o post-it (Ctrl+D) e arraste para o bloco.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45800" y="5930900"/>
            <a:ext cx="812800" cy="279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rtlCol="0" anchor="ctr" wrap="square" lIns="38100" rIns="38100" tIns="22859" bIns="22859">
            <a:noAutofit/>
          </a:bodyPr>
          <a:lstStyle/>
          <a:p>
            <a:pPr algn="ctr"/>
            <a:r>
              <a:rPr sz="900" b="0" i="0" u="none">
                <a:solidFill>
                  <a:srgbClr val="1E1647"/>
                </a:solidFill>
                <a:latin typeface="Lexend SemiBold"/>
              </a:rPr>
              <a:t>Nota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3 de 5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➡️  Próximo passo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68400"/>
          <a:ext cx="11277600" cy="95408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94000"/>
                <a:gridCol w="8483600"/>
              </a:tblGrid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Maiores incertezas</a:t>
                      </a:r>
                    </a:p>
                    <a:p>
                      <a:pPr algn="l"/>
                      <a:r>
                        <a:rPr sz="800" b="0" i="0" u="none">
                          <a:solidFill>
                            <a:srgbClr val="614AD3"/>
                          </a:solidFill>
                          <a:latin typeface="Lexend"/>
                        </a:rPr>
                        <a:t>O que pode derrubar a ideia?</a:t>
                      </a: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1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395287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Próximo passo pedido</a:t>
                      </a:r>
                    </a:p>
                    <a:p>
                      <a:pPr algn="l"/>
                      <a:r>
                        <a:rPr sz="800" b="0" i="0" u="none">
                          <a:solidFill>
                            <a:srgbClr val="614AD3"/>
                          </a:solidFill>
                          <a:latin typeface="Lexend"/>
                        </a:rPr>
                        <a:t>Ex.: autorização para escrever o Business Case</a:t>
                      </a: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1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249487"/>
            <a:ext cx="254000" cy="225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200" b="0" i="0" u="none">
                <a:solidFill>
                  <a:srgbClr val="614AD3"/>
                </a:solidFill>
                <a:latin typeface="Lexend"/>
              </a:rP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600" y="2262187"/>
            <a:ext cx="10998200" cy="225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100" b="0" i="0" u="none">
                <a:solidFill>
                  <a:srgbClr val="FFFFFF"/>
                </a:solidFill>
                <a:latin typeface="Lexend"/>
              </a:rPr>
              <a:t>O problema foi descrito antes da solução.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00312"/>
            <a:ext cx="254000" cy="225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200" b="0" i="0" u="none">
                <a:solidFill>
                  <a:srgbClr val="614AD3"/>
                </a:solidFill>
                <a:latin typeface="Lexend"/>
              </a:rP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600" y="2513012"/>
            <a:ext cx="10998200" cy="225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100" b="0" i="0" u="none">
                <a:solidFill>
                  <a:srgbClr val="FFFFFF"/>
                </a:solidFill>
                <a:latin typeface="Lexend"/>
              </a:rPr>
              <a:t>O público-alvo é específico (não é "todo mundo").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51137"/>
            <a:ext cx="254000" cy="225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200" b="0" i="0" u="none">
                <a:solidFill>
                  <a:srgbClr val="614AD3"/>
                </a:solidFill>
                <a:latin typeface="Lexend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600" y="2763837"/>
            <a:ext cx="10998200" cy="225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100" b="0" i="0" u="none">
                <a:solidFill>
                  <a:srgbClr val="FFFFFF"/>
                </a:solidFill>
                <a:latin typeface="Lexend"/>
              </a:rPr>
              <a:t>O impacto tem pelo menos um indicador que dá para medir.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4 de 5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🗂️  Histórico de versões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68400"/>
          <a:ext cx="11277597" cy="1066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1413"/>
                <a:gridCol w="1544876"/>
                <a:gridCol w="2471802"/>
                <a:gridCol w="6179506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Versão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Data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Autoria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O que mudou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5 de 5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_code">
  <a:themeElements>
    <a:clrScheme name="Office">
      <a:dk1>
        <a:srgbClr val="1E1647"/>
      </a:dk1>
      <a:lt1>
        <a:srgbClr val="FFFFFF"/>
      </a:lt1>
      <a:dk2>
        <a:srgbClr val="1E1647"/>
      </a:dk2>
      <a:lt2>
        <a:srgbClr val="FFFFFF"/>
      </a:lt2>
      <a:accent1>
        <a:srgbClr val="614AD3"/>
      </a:accent1>
      <a:accent2>
        <a:srgbClr val="FFFF00"/>
      </a:accent2>
      <a:accent3>
        <a:srgbClr val="614AD3"/>
      </a:accent3>
      <a:accent4>
        <a:srgbClr val="FFFF00"/>
      </a:accent4>
      <a:accent5>
        <a:srgbClr val="614AD3"/>
      </a:accent5>
      <a:accent6>
        <a:srgbClr val="FFFF00"/>
      </a:accent6>
      <a:hlink>
        <a:srgbClr val="FFFF00"/>
      </a:hlink>
      <a:folHlink>
        <a:srgbClr val="614AD3"/>
      </a:folHlink>
    </a:clrScheme>
    <a:fontScheme name="Office">
      <a:majorFont>
        <a:latin typeface="Lexe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exe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Canvas de Ideação — for_code</dc:title>
  <dc:subject>Modelo 01 · Iniciação</dc:subject>
  <dc:creator>for_code · Diretoria de Projetos</dc:creator>
  <cp:keywords/>
  <dc:description>generated using python-pptx</dc:description>
  <cp:lastModifiedBy>for_code · Diretoria de Projetos</cp:lastModifiedBy>
  <cp:revision>1</cp:revision>
  <dcterms:created xsi:type="dcterms:W3CDTF">2026-09-24T00:00:00Z</dcterms:created>
  <dcterms:modified xsi:type="dcterms:W3CDTF">2026-09-24T00:00:00Z</dcterms:modified>
  <cp:category/>
</cp:coreProperties>
</file>