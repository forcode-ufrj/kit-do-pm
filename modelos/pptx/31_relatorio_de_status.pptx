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Na cadência do Plano de Comunicação (ex.: quinzenal). Defina o critério das cores antes; nada de "verde melancia".</a:t>
            </a:r>
          </a:p>
          <a:p>
            <a:r>
              <a:t>Manual de preenchimento: manual 31_relatorio_de_status.pdf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Relatório de Status do Projeto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Onde o projeto está em relação ao plano — e o que precisa de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1E1647"/>
                </a:solidFill>
                <a:latin typeface="Lexend SemiBold"/>
              </a:rPr>
              <a:t>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31 · Monitoramento e Controle · PMBOK: 4.5 Monitorar e Controlar o Trabalho do Projeto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369887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36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Na cadência do Plano de Comunicação (ex.: quinzenal). Defina o critério das cores antes; nada de "verde melancia".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31_relatorio_de_status.pdf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1412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868612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240212"/>
            <a:ext cx="11277600" cy="100965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316412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45012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545012"/>
            <a:ext cx="10058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14 Lista de Marcos · 19 Cronograma do Projeto · 21 Registro de Riscos · 22 Planilha de Custos do Projeto · 23 Plano de Comunicação · 27 Registro de Questões · 30 Registro de Mudanças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93871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93871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32 Relatório de Valor Agregado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🗓️  Período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600" cy="7905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4000"/>
                <a:gridCol w="8483600"/>
              </a:tblGrid>
              <a:tr h="3952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Período de referência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De DD/MM a DD/MM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395287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% concluído do projeto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Pela linha de base do cronograma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🚦  Status por dimensão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11277600" cy="150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 i="0" u="none">
                <a:solidFill>
                  <a:srgbClr val="614AD3"/>
                </a:solidFill>
                <a:latin typeface="Lexend"/>
              </a:rPr>
              <a:t>Critério sugerido: verde = dentro do plano; amarelo = desvio que a equipe resolve; vermelho = precisa de decisão do patrocínio.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0012"/>
          <a:ext cx="11277598" cy="33067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761"/>
                <a:gridCol w="1818967"/>
                <a:gridCol w="727587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Dimensão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Status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Comentário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182562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Verde / Amarelo / Vermelho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Geral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Escopo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Prazo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Custo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Qualidade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"/>
                        </a:rPr>
                        <a:t>Riscos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📈  Andamento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600" cy="157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4000"/>
                <a:gridCol w="8483600"/>
              </a:tblGrid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Realizado no período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Resultados, não só atividades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Planejado para o próximo período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70200"/>
          <a:ext cx="11277598" cy="1346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42690"/>
                <a:gridCol w="1708727"/>
                <a:gridCol w="2050472"/>
                <a:gridCol w="3075709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Marco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 prevista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 real ou projetada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Situação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⚠️  Riscos, questões e mudanças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346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9799"/>
                <a:gridCol w="4699000"/>
                <a:gridCol w="1879599"/>
                <a:gridCol w="3759199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ID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Risco ou questão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Situação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Ação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641600"/>
          <a:ext cx="11277600" cy="167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4000"/>
                <a:gridCol w="8483600"/>
              </a:tblGrid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Mudanças no período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Nº e decisão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Decisões ou apoio necessários</a:t>
                      </a:r>
                    </a:p>
                    <a:p>
                      <a:pPr algn="l"/>
                      <a:r>
                        <a:rPr sz="800" b="0" i="0" u="none">
                          <a:solidFill>
                            <a:srgbClr val="614AD3"/>
                          </a:solidFill>
                          <a:latin typeface="Lexend"/>
                        </a:rPr>
                        <a:t>O que o patrocínio precisa decidir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Lições do período</a:t>
                      </a: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1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t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5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6 de 6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Status do Projeto — for_code</dc:title>
  <dc:subject>Modelo 31 · Monitoramento e Controle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