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usar: Monte em uma oficina com a equipe, depois do Business Case e antes do TAP. Use notas curtas; preencha na ordem numerada (por quê → o quê → quem → como → quando e quanto).</a:t>
            </a:r>
          </a:p>
          <a:p>
            <a:r>
              <a:t>Manual de preenchimento: manual 03_project_model_canvas.pdf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Clique no bloco, abaixo da dica, e digite. Para notas soltas, duplique o post-it (Ctrl+D) e arraste para o bloco.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Checklist: troque ☐ por ☒ nos itens que já valem.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30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3000" b="0" i="0" u="none">
                <a:solidFill>
                  <a:srgbClr val="FFFFFF"/>
                </a:solidFill>
                <a:latin typeface="Lexend"/>
              </a:rPr>
              <a:t>Project Model Canvas</a:t>
            </a:r>
            <a:r>
              <a:rPr sz="30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70000"/>
            <a:ext cx="11277600" cy="238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500" b="0" i="0" u="none">
                <a:solidFill>
                  <a:srgbClr val="614AD3"/>
                </a:solidFill>
                <a:latin typeface="Lexend"/>
              </a:rPr>
              <a:t>O projeto inteiro em uma página, construído em grupo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84325"/>
            <a:ext cx="1066800" cy="190500"/>
          </a:xfrm>
          <a:prstGeom prst="rect">
            <a:avLst/>
          </a:prstGeom>
          <a:noFill/>
          <a:ln w="9525">
            <a:solidFill>
              <a:srgbClr val="614AD3"/>
            </a:solidFill>
          </a:ln>
        </p:spPr>
        <p:txBody>
          <a:bodyPr rtlCol="0" anchor="ctr" wrap="square" lIns="12700" rIns="12700" tIns="7620" bIns="7620">
            <a:noAutofit/>
          </a:bodyPr>
          <a:lstStyle/>
          <a:p>
            <a:pPr algn="ctr"/>
            <a:r>
              <a:rPr sz="800" b="0" i="0" u="none">
                <a:solidFill>
                  <a:srgbClr val="614AD3"/>
                </a:solidFill>
                <a:latin typeface="Lexend SemiBold"/>
              </a:rPr>
              <a:t>COMPLEMENTAR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1000" y="1584325"/>
            <a:ext cx="100838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900" b="0" i="0" u="none">
                <a:solidFill>
                  <a:srgbClr val="614AD3"/>
                </a:solidFill>
                <a:latin typeface="Lexend SemiBold"/>
              </a:rPr>
              <a:t>Modelo 03 · Iniciação · PMBOK: fora do PMBOK — Finocchio (2013)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89125"/>
            <a:ext cx="31750" cy="536575"/>
          </a:xfrm>
          <a:prstGeom prst="rect">
            <a:avLst/>
          </a:prstGeom>
          <a:solidFill>
            <a:srgbClr val="614A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4200" y="1889125"/>
            <a:ext cx="11150600" cy="5365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Lexend"/>
              </a:rPr>
              <a:t>Monte em uma oficina com a equipe, depois do Business Case e antes do TAP. Use notas curtas; preencha na ordem numerada (por quê → o quê → quem → como → quando e quanto).</a:t>
            </a:r>
          </a:p>
          <a:p>
            <a:pPr algn="l"/>
            <a:r>
              <a:rPr sz="1050" b="0" i="0" u="none">
                <a:solidFill>
                  <a:srgbClr val="614AD3"/>
                </a:solidFill>
                <a:latin typeface="Lexend SemiBold"/>
              </a:rPr>
              <a:t>Manual de preenchimento:</a:t>
            </a:r>
            <a:r>
              <a:rPr sz="1050" b="0" i="0" u="none">
                <a:solidFill>
                  <a:srgbClr val="FFFFFF"/>
                </a:solidFill>
                <a:latin typeface="Lexend"/>
              </a:rPr>
              <a:t> manual 03_project_model_canvas.pdf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781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🪪  Identificação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035300"/>
          <a:ext cx="11277600" cy="1219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5000"/>
                <a:gridCol w="3733800"/>
                <a:gridCol w="1905000"/>
                <a:gridCol w="3733800"/>
              </a:tblGrid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Código do projeto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Formato F.PJ-nn (ex.: F.PJ-01)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Nome do projeto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Gerente do projeto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A pessoa que lidera o projeto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Versão do documento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Ex.: 1.0 (a 1ª aprovada)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Data</a:t>
                      </a:r>
                    </a:p>
                    <a:p>
                      <a:pPr algn="l"/>
                      <a:r>
                        <a:rPr sz="750" b="0" i="0" u="none">
                          <a:solidFill>
                            <a:srgbClr val="614AD3"/>
                          </a:solidFill>
                          <a:latin typeface="Lexend"/>
                        </a:rPr>
                        <a:t>DD/MM/AAAA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4406900"/>
            <a:ext cx="11277600" cy="850900"/>
          </a:xfrm>
          <a:prstGeom prst="rect">
            <a:avLst/>
          </a:prstGeom>
          <a:noFill/>
          <a:ln w="9525">
            <a:solidFill>
              <a:srgbClr val="614A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4483100"/>
            <a:ext cx="1107440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614AD3"/>
                </a:solidFill>
                <a:latin typeface="Lexend SemiBold"/>
              </a:rPr>
              <a:t>Cadeia do projeto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800" y="4711700"/>
            <a:ext cx="10160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 SemiBold"/>
              </a:rPr>
              <a:t>Vem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4800" y="4711700"/>
            <a:ext cx="100584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"/>
              </a:rPr>
              <a:t>01 Canvas de Ideação · 02 Business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800" y="4946650"/>
            <a:ext cx="10160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 SemiBold"/>
              </a:rPr>
              <a:t>Alimenta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4800" y="4946650"/>
            <a:ext cx="10058400" cy="158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000" b="0" i="0" u="none">
                <a:solidFill>
                  <a:srgbClr val="FFFFFF"/>
                </a:solidFill>
                <a:latin typeface="Lexend"/>
              </a:rPr>
              <a:t>04 Termo de Abertura do Projeto · 05 Registro de Premissas e Restrições · 06 Registro das Partes Interessadas · 21 Registro de Riscos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1 de 4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🧩  Canvas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68400"/>
            <a:ext cx="225552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100" b="0" i="0" u="none">
                <a:solidFill>
                  <a:srgbClr val="FFFF00"/>
                </a:solidFill>
                <a:latin typeface="Lexend SemiBold"/>
              </a:rPr>
              <a:t>Por quê?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2720" y="1168400"/>
            <a:ext cx="225552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100" b="0" i="0" u="none">
                <a:solidFill>
                  <a:srgbClr val="FFFF00"/>
                </a:solidFill>
                <a:latin typeface="Lexend SemiBold"/>
              </a:rPr>
              <a:t>O quê?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68240" y="1168400"/>
            <a:ext cx="225552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100" b="0" i="0" u="none">
                <a:solidFill>
                  <a:srgbClr val="FFFF00"/>
                </a:solidFill>
                <a:latin typeface="Lexend SemiBold"/>
              </a:rPr>
              <a:t>Quem?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59" y="1168400"/>
            <a:ext cx="225552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100" b="0" i="0" u="none">
                <a:solidFill>
                  <a:srgbClr val="FFFF00"/>
                </a:solidFill>
                <a:latin typeface="Lexend SemiBold"/>
              </a:rPr>
              <a:t>Como?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79280" y="1168400"/>
            <a:ext cx="2255520" cy="203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100" b="0" i="0" u="none">
                <a:solidFill>
                  <a:srgbClr val="FFFF00"/>
                </a:solidFill>
                <a:latin typeface="Lexend SemiBold"/>
              </a:rPr>
              <a:t>Quando e quanto?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97000"/>
            <a:ext cx="2204720" cy="1439333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1. Justificativas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Problema atual (passado)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2887133"/>
            <a:ext cx="2204720" cy="1439333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2. Objetivo SMART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Específico, mensurável, atingível, relevante, com prazo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4377266"/>
            <a:ext cx="2204720" cy="1439333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3. Benefícios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O que melhora depois (futuro)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12720" y="1397000"/>
            <a:ext cx="2204720" cy="1439333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4. Produto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O que será entregue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12720" y="2887133"/>
            <a:ext cx="2204720" cy="2929466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5. Requisitos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O que o produto precisa ter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968240" y="1397000"/>
            <a:ext cx="2204720" cy="1439333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6. Stakeholders externos e fatores externos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Quem ou o que afeta de fora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968240" y="2887133"/>
            <a:ext cx="2204720" cy="2929466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7. Equipe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Quem faz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23759" y="1397000"/>
            <a:ext cx="2204720" cy="1439333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8. Premissas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O que se supõe verdadeiro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223759" y="2887133"/>
            <a:ext cx="2204720" cy="1439333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9. Grupos de entregas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Substantivos, não verbos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223759" y="4377266"/>
            <a:ext cx="2204720" cy="1439333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10. Restrições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Limites de prazo, custo, regra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479280" y="1397000"/>
            <a:ext cx="2204720" cy="1439333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11. Riscos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Eventos incertos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479280" y="2887133"/>
            <a:ext cx="2204720" cy="1439333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12. Linha do tempo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Marcos principais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479280" y="4377266"/>
            <a:ext cx="2204720" cy="1439333"/>
          </a:xfrm>
          <a:prstGeom prst="rect">
            <a:avLst/>
          </a:prstGeom>
          <a:solidFill>
            <a:srgbClr val="1E1647"/>
          </a:solidFill>
          <a:ln w="12700">
            <a:solidFill>
              <a:srgbClr val="614AD3"/>
            </a:solidFill>
          </a:ln>
        </p:spPr>
        <p:txBody>
          <a:bodyPr rtlCol="0" anchor="t" wrap="square" lIns="63500" rIns="63500" tIns="38100" bIns="38100">
            <a:noAutofit/>
          </a:bodyPr>
          <a:lstStyle/>
          <a:p>
            <a:pPr algn="l"/>
            <a:r>
              <a:rPr sz="1100" b="0" i="0" u="none">
                <a:solidFill>
                  <a:srgbClr val="FFFFFF"/>
                </a:solidFill>
                <a:latin typeface="Lexend SemiBold"/>
              </a:rPr>
              <a:t>13. Custos</a:t>
            </a:r>
          </a:p>
          <a:p>
            <a:pPr algn="l"/>
            <a:r>
              <a:rPr sz="750" b="0" i="0" u="none">
                <a:solidFill>
                  <a:srgbClr val="614AD3"/>
                </a:solidFill>
                <a:latin typeface="Lexend"/>
              </a:rPr>
              <a:t>Ordem de grandeza</a:t>
            </a:r>
          </a:p>
          <a:p>
            <a:pPr>
              <a:spcBef>
                <a:spcPts val="300"/>
              </a:spcBef>
            </a:pPr>
            <a:endParaRPr lang="pt-BR" sz="1050">
              <a:solidFill>
                <a:srgbClr val="FFFFFF"/>
              </a:solidFill>
              <a:latin typeface="Lexen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5943600"/>
            <a:ext cx="102616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900" b="0" i="0" u="none">
                <a:solidFill>
                  <a:srgbClr val="614AD3"/>
                </a:solidFill>
                <a:latin typeface="Lexend"/>
              </a:rPr>
              <a:t>Clique no bloco, abaixo da dica, e digite. Para notas soltas, duplique o post-it (Ctrl+D) e arraste para o bloco.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45800" y="5930900"/>
            <a:ext cx="812800" cy="279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rtlCol="0" anchor="ctr" wrap="square" lIns="38100" rIns="38100" tIns="22859" bIns="22859">
            <a:noAutofit/>
          </a:bodyPr>
          <a:lstStyle/>
          <a:p>
            <a:pPr algn="ctr"/>
            <a:r>
              <a:rPr sz="900" b="0" i="0" u="none">
                <a:solidFill>
                  <a:srgbClr val="1E1647"/>
                </a:solidFill>
                <a:latin typeface="Lexend SemiBold"/>
              </a:rPr>
              <a:t>Nota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2 de 4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🧩  Canvas do projeto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68400"/>
            <a:ext cx="254000" cy="225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200" b="0" i="0" u="none">
                <a:solidFill>
                  <a:srgbClr val="614AD3"/>
                </a:solidFill>
                <a:latin typeface="Lexend"/>
              </a:rPr>
              <a:t>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6600" y="1181100"/>
            <a:ext cx="10998200" cy="225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100" b="0" i="0" u="none">
                <a:solidFill>
                  <a:srgbClr val="FFFFFF"/>
                </a:solidFill>
                <a:latin typeface="Lexend"/>
              </a:rPr>
              <a:t>O objetivo tem número e prazo.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9225"/>
            <a:ext cx="254000" cy="225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200" b="0" i="0" u="none">
                <a:solidFill>
                  <a:srgbClr val="614AD3"/>
                </a:solidFill>
                <a:latin typeface="Lexend"/>
              </a:rPr>
              <a:t>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600" y="1431925"/>
            <a:ext cx="10998200" cy="225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100" b="0" i="0" u="none">
                <a:solidFill>
                  <a:srgbClr val="FFFFFF"/>
                </a:solidFill>
                <a:latin typeface="Lexend"/>
              </a:rPr>
              <a:t>Os grupos de entregas são substantivos.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70050"/>
            <a:ext cx="254000" cy="225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200" b="0" i="0" u="none">
                <a:solidFill>
                  <a:srgbClr val="614AD3"/>
                </a:solidFill>
                <a:latin typeface="Lexend"/>
              </a:rPr>
              <a:t>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600" y="1682750"/>
            <a:ext cx="10998200" cy="225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100" b="0" i="0" u="none">
                <a:solidFill>
                  <a:srgbClr val="FFFFFF"/>
                </a:solidFill>
                <a:latin typeface="Lexend"/>
              </a:rPr>
              <a:t>Cada risco tem relação com uma premissa, restrição ou entrega.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875"/>
            <a:ext cx="254000" cy="225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200" b="0" i="0" u="none">
                <a:solidFill>
                  <a:srgbClr val="614AD3"/>
                </a:solidFill>
                <a:latin typeface="Lexend"/>
              </a:rPr>
              <a:t>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600" y="1933575"/>
            <a:ext cx="10998200" cy="2254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1100" b="0" i="0" u="none">
                <a:solidFill>
                  <a:srgbClr val="FFFFFF"/>
                </a:solidFill>
                <a:latin typeface="Lexend"/>
              </a:rPr>
              <a:t>O canvas será transformado em TAP.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3 de 4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bec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081" y="254000"/>
            <a:ext cx="2255838" cy="273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11200"/>
            <a:ext cx="112776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2000" b="0" i="0" u="none">
                <a:solidFill>
                  <a:srgbClr val="FFFFFF"/>
                </a:solidFill>
                <a:latin typeface="Lexend"/>
              </a:rPr>
              <a:t>🗂️  Histórico de versões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68400"/>
          <a:ext cx="11277597" cy="1066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1413"/>
                <a:gridCol w="1544876"/>
                <a:gridCol w="2471802"/>
                <a:gridCol w="6179506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Versão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Data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Autoria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 u="none">
                          <a:solidFill>
                            <a:srgbClr val="FFFFFF"/>
                          </a:solidFill>
                          <a:latin typeface="Lexend SemiBold"/>
                        </a:rPr>
                        <a:t>O que mudou</a:t>
                      </a: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solidFill>
                      <a:srgbClr val="614AD3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endParaRPr lang="pt-BR" sz="1000">
                        <a:solidFill>
                          <a:srgbClr val="FFFFFF"/>
                        </a:solidFill>
                        <a:latin typeface="Lexend"/>
                      </a:endParaRPr>
                    </a:p>
                  </a:txBody>
                  <a:tcPr marL="50800" marR="50800" marT="31750" marB="31750" anchor="ctr">
                    <a:lnL w="9525" cap="flat" cmpd="sng" algn="ctr">
                      <a:solidFill>
                        <a:srgbClr val="614AD3"/>
                      </a:solidFill>
                      <a:prstDash val="solid"/>
                    </a:lnL>
                    <a:lnR w="9525" cap="flat" cmpd="sng" algn="ctr">
                      <a:solidFill>
                        <a:srgbClr val="614AD3"/>
                      </a:solidFill>
                      <a:prstDash val="solid"/>
                    </a:lnR>
                    <a:lnT w="9525" cap="flat" cmpd="sng" algn="ctr">
                      <a:solidFill>
                        <a:srgbClr val="614AD3"/>
                      </a:solidFill>
                      <a:prstDash val="solid"/>
                    </a:lnT>
                    <a:lnB w="9525" cap="flat" cmpd="sng" algn="ctr">
                      <a:solidFill>
                        <a:srgbClr val="614AD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500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b="0" i="0" u="none">
                <a:solidFill>
                  <a:srgbClr val="614AD3"/>
                </a:solidFill>
                <a:latin typeface="Lexend"/>
              </a:rPr>
              <a:t>[ </a:t>
            </a:r>
            <a:r>
              <a:rPr sz="1100" b="0" i="0" u="none">
                <a:solidFill>
                  <a:srgbClr val="FFFFFF"/>
                </a:solidFill>
                <a:latin typeface="Lexend"/>
              </a:rPr>
              <a:t>Slide 4 de 4</a:t>
            </a:r>
            <a:r>
              <a:rPr sz="1100" b="0" i="0" u="none">
                <a:solidFill>
                  <a:srgbClr val="614AD3"/>
                </a:solidFill>
                <a:latin typeface="Lexend"/>
              </a:rPr>
              <a:t>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78600"/>
            <a:ext cx="112776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700" b="0" i="0" u="none">
                <a:solidFill>
                  <a:srgbClr val="614AD3"/>
                </a:solidFill>
                <a:latin typeface="Lexend SemiBold"/>
              </a:rPr>
              <a:t>Seguindo o Guia PMBOK® (PMI) · Adaptação: Ronivaldo Domingues de Andrade · Diretor de Projetos da for_code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_code">
  <a:themeElements>
    <a:clrScheme name="Office">
      <a:dk1>
        <a:srgbClr val="1E1647"/>
      </a:dk1>
      <a:lt1>
        <a:srgbClr val="FFFFFF"/>
      </a:lt1>
      <a:dk2>
        <a:srgbClr val="1E1647"/>
      </a:dk2>
      <a:lt2>
        <a:srgbClr val="FFFFFF"/>
      </a:lt2>
      <a:accent1>
        <a:srgbClr val="614AD3"/>
      </a:accent1>
      <a:accent2>
        <a:srgbClr val="FFFF00"/>
      </a:accent2>
      <a:accent3>
        <a:srgbClr val="614AD3"/>
      </a:accent3>
      <a:accent4>
        <a:srgbClr val="FFFF00"/>
      </a:accent4>
      <a:accent5>
        <a:srgbClr val="614AD3"/>
      </a:accent5>
      <a:accent6>
        <a:srgbClr val="FFFF00"/>
      </a:accent6>
      <a:hlink>
        <a:srgbClr val="FFFF00"/>
      </a:hlink>
      <a:folHlink>
        <a:srgbClr val="614AD3"/>
      </a:folHlink>
    </a:clrScheme>
    <a:fontScheme name="Office">
      <a:majorFont>
        <a:latin typeface="Lexe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exe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Model Canvas — for_code</dc:title>
  <dc:subject>Modelo 03 · Iniciação</dc:subject>
  <dc:creator>for_code · Diretoria de Projetos</dc:creator>
  <cp:keywords/>
  <dc:description>generated using python-pptx</dc:description>
  <cp:lastModifiedBy>for_code · Diretoria de Projetos</cp:lastModifiedBy>
  <cp:revision>1</cp:revision>
  <dcterms:created xsi:type="dcterms:W3CDTF">2026-09-24T00:00:00Z</dcterms:created>
  <dcterms:modified xsi:type="dcterms:W3CDTF">2026-09-24T00:00:00Z</dcterms:modified>
  <cp:category/>
</cp:coreProperties>
</file>